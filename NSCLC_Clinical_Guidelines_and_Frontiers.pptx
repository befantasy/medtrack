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1097280"/>
            <a:ext cx="182880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463040"/>
            <a:ext cx="10058400" cy="2926080"/>
          </a:xfrm>
          <a:prstGeom prst="rect">
            <a:avLst/>
          </a:prstGeom>
          <a:noFill/>
        </p:spPr>
        <p:txBody>
          <a:bodyPr wrap="square">
            <a:spAutoFit/>
          </a:bodyPr>
          <a:lstStyle/>
          <a:p>
            <a:pPr>
              <a:spcAft>
                <a:spcPts val="1000"/>
              </a:spcAft>
              <a:defRPr sz="1300" b="1">
                <a:solidFill>
                  <a:srgbClr val="0EA5E9"/>
                </a:solidFill>
                <a:latin typeface="Arial"/>
              </a:defRPr>
            </a:pPr>
            <a:r>
              <a:t>CLINICAL PRACTICE GUIDELINES &amp; FRONTIER ADVANCES 2026</a:t>
            </a:r>
          </a:p>
          <a:p>
            <a:pPr>
              <a:spcAft>
                <a:spcPts val="1400"/>
              </a:spcAft>
              <a:defRPr sz="3600" b="1">
                <a:solidFill>
                  <a:srgbClr val="F1F5F9"/>
                </a:solidFill>
                <a:latin typeface="Arial"/>
              </a:defRPr>
            </a:pPr>
            <a:r>
              <a:t>非小细胞肺癌（NSCLC）</a:t>
            </a:r>
            <a:br/>
            <a:r>
              <a:t>临床诊疗与前沿突破全景指南</a:t>
            </a:r>
          </a:p>
          <a:p>
            <a:pPr>
              <a:defRPr sz="1400">
                <a:solidFill>
                  <a:srgbClr val="CBD5E1"/>
                </a:solidFill>
                <a:latin typeface="Arial"/>
              </a:defRPr>
            </a:pPr>
            <a:r>
              <a:t>涵盖早期筛查、精准病理与分子分型、围手术期免疫变革、晚期靶向分型及双特异性抗体与ADC前沿临床试验</a:t>
            </a:r>
          </a:p>
        </p:txBody>
      </p:sp>
      <p:sp>
        <p:nvSpPr>
          <p:cNvPr id="5" name="Rounded Rectangle 4"/>
          <p:cNvSpPr/>
          <p:nvPr/>
        </p:nvSpPr>
        <p:spPr>
          <a:xfrm>
            <a:off x="1097280" y="4663440"/>
            <a:ext cx="2377440" cy="11887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spcAft>
                <a:spcPts val="400"/>
              </a:spcAft>
              <a:defRPr sz="1200" b="1">
                <a:solidFill>
                  <a:srgbClr val="0EA5E9"/>
                </a:solidFill>
                <a:latin typeface="Arial"/>
              </a:defRPr>
            </a:pPr>
            <a:r>
              <a:t>确诊与分子分型</a:t>
            </a:r>
          </a:p>
          <a:p>
            <a:pPr>
              <a:defRPr sz="1000">
                <a:solidFill>
                  <a:srgbClr val="94A3B8"/>
                </a:solidFill>
                <a:latin typeface="Arial"/>
              </a:defRPr>
            </a:pPr>
            <a:r>
              <a:t>高灵敏LDCT与十合一NGS全景检测</a:t>
            </a:r>
          </a:p>
        </p:txBody>
      </p:sp>
      <p:sp>
        <p:nvSpPr>
          <p:cNvPr id="6" name="Rounded Rectangle 5"/>
          <p:cNvSpPr/>
          <p:nvPr/>
        </p:nvSpPr>
        <p:spPr>
          <a:xfrm>
            <a:off x="3639311" y="4663440"/>
            <a:ext cx="2377440" cy="11887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spcAft>
                <a:spcPts val="400"/>
              </a:spcAft>
              <a:defRPr sz="1200" b="1">
                <a:solidFill>
                  <a:srgbClr val="0EA5E9"/>
                </a:solidFill>
                <a:latin typeface="Arial"/>
              </a:defRPr>
            </a:pPr>
            <a:r>
              <a:t>围手术期综合治疗</a:t>
            </a:r>
          </a:p>
          <a:p>
            <a:pPr>
              <a:defRPr sz="1000">
                <a:solidFill>
                  <a:srgbClr val="94A3B8"/>
                </a:solidFill>
                <a:latin typeface="Arial"/>
              </a:defRPr>
            </a:pPr>
            <a:r>
              <a:t>CheckMate-816与KEYNOTE-671免疫重塑</a:t>
            </a:r>
          </a:p>
        </p:txBody>
      </p:sp>
      <p:sp>
        <p:nvSpPr>
          <p:cNvPr id="7" name="Rounded Rectangle 6"/>
          <p:cNvSpPr/>
          <p:nvPr/>
        </p:nvSpPr>
        <p:spPr>
          <a:xfrm>
            <a:off x="6181344" y="4663440"/>
            <a:ext cx="2377440" cy="11887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spcAft>
                <a:spcPts val="400"/>
              </a:spcAft>
              <a:defRPr sz="1200" b="1">
                <a:solidFill>
                  <a:srgbClr val="0EA5E9"/>
                </a:solidFill>
                <a:latin typeface="Arial"/>
              </a:defRPr>
            </a:pPr>
            <a:r>
              <a:t>晚期分型靶向诊疗</a:t>
            </a:r>
          </a:p>
          <a:p>
            <a:pPr>
              <a:defRPr sz="1000">
                <a:solidFill>
                  <a:srgbClr val="94A3B8"/>
                </a:solidFill>
                <a:latin typeface="Arial"/>
              </a:defRPr>
            </a:pPr>
            <a:r>
              <a:t>FLAURA2与MARIPOSA一线突破</a:t>
            </a:r>
          </a:p>
        </p:txBody>
      </p:sp>
      <p:sp>
        <p:nvSpPr>
          <p:cNvPr id="8" name="Rounded Rectangle 7"/>
          <p:cNvSpPr/>
          <p:nvPr/>
        </p:nvSpPr>
        <p:spPr>
          <a:xfrm>
            <a:off x="8723376" y="4663440"/>
            <a:ext cx="2377440" cy="11887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spcAft>
                <a:spcPts val="400"/>
              </a:spcAft>
              <a:defRPr sz="1200" b="1">
                <a:solidFill>
                  <a:srgbClr val="0EA5E9"/>
                </a:solidFill>
                <a:latin typeface="Arial"/>
              </a:defRPr>
            </a:pPr>
            <a:r>
              <a:t>最前沿药物与试验</a:t>
            </a:r>
          </a:p>
          <a:p>
            <a:pPr>
              <a:defRPr sz="1000">
                <a:solidFill>
                  <a:srgbClr val="94A3B8"/>
                </a:solidFill>
                <a:latin typeface="Arial"/>
              </a:defRPr>
            </a:pPr>
            <a:r>
              <a:t>依沃西双抗HARMONi-2与新一代ADC</a:t>
            </a:r>
          </a:p>
        </p:txBody>
      </p:sp>
      <p:sp>
        <p:nvSpPr>
          <p:cNvPr id="9" name="TextBox 8"/>
          <p:cNvSpPr txBox="1"/>
          <p:nvPr/>
        </p:nvSpPr>
        <p:spPr>
          <a:xfrm>
            <a:off x="1097280" y="6035040"/>
            <a:ext cx="10058400" cy="457200"/>
          </a:xfrm>
          <a:prstGeom prst="rect">
            <a:avLst/>
          </a:prstGeom>
          <a:noFill/>
        </p:spPr>
        <p:txBody>
          <a:bodyPr wrap="none">
            <a:spAutoFit/>
          </a:bodyPr>
          <a:lstStyle/>
          <a:p>
            <a:pPr>
              <a:defRPr sz="1000">
                <a:solidFill>
                  <a:srgbClr val="94A3B8"/>
                </a:solidFill>
                <a:latin typeface="Arial"/>
              </a:defRPr>
            </a:pPr>
            <a:r>
              <a:t>数据支持：PubMed / MEDLINE 全球权威顶刊 (NEJM, Lancet, JCO) 与 ClinicalTrials.gov 全球注册试验 | 2026年9月最新版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0EA5E9"/>
                </a:solidFill>
                <a:latin typeface="Arial"/>
              </a:defRPr>
            </a:pPr>
            <a:r>
              <a:t>导言与总体架构</a:t>
            </a:r>
          </a:p>
          <a:p>
            <a:pPr>
              <a:defRPr sz="2200" b="1">
                <a:solidFill>
                  <a:srgbClr val="1E293B"/>
                </a:solidFill>
                <a:latin typeface="Arial"/>
              </a:defRPr>
            </a:pPr>
            <a:r>
              <a:t>非小细胞肺癌（NSCLC）规范化诊疗四大支柱</a:t>
            </a:r>
          </a:p>
          <a:p>
            <a:pPr>
              <a:spcBef>
                <a:spcPts val="200"/>
              </a:spcBef>
              <a:defRPr sz="1100">
                <a:solidFill>
                  <a:srgbClr val="64748B"/>
                </a:solidFill>
                <a:latin typeface="Arial"/>
              </a:defRPr>
            </a:pPr>
            <a:r>
              <a:t>贯穿早期筛查、术前/术后新模式、晚期靶向分型及双抗/ADC新纪元</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00">
                <a:solidFill>
                  <a:srgbClr val="94A3B8"/>
                </a:solidFill>
                <a:latin typeface="Arial"/>
              </a:defRPr>
            </a:pPr>
            <a:r>
              <a:t>2026年非小细胞肺癌（NSCLC）临床诊疗与前沿指南 | 循证源：PubMed / ClinicalTrials.gov                                                                Slide 2 / 22</a:t>
            </a:r>
          </a:p>
        </p:txBody>
      </p:sp>
      <p:sp>
        <p:nvSpPr>
          <p:cNvPr id="5" name="Rounded Rectangle 4"/>
          <p:cNvSpPr/>
          <p:nvPr/>
        </p:nvSpPr>
        <p:spPr>
          <a:xfrm>
            <a:off x="731520" y="1554480"/>
            <a:ext cx="2578608"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spcAft>
                <a:spcPts val="1400"/>
              </a:spcAft>
              <a:defRPr sz="1300" b="1">
                <a:solidFill>
                  <a:srgbClr val="0EA5E9"/>
                </a:solidFill>
                <a:latin typeface="Arial"/>
              </a:defRPr>
            </a:pPr>
            <a:r>
              <a:t>支柱一：精准确诊与纵隔分期</a:t>
            </a:r>
          </a:p>
          <a:p>
            <a:pPr>
              <a:spcAft>
                <a:spcPts val="800"/>
              </a:spcAft>
              <a:defRPr sz="1050">
                <a:solidFill>
                  <a:srgbClr val="1E293B"/>
                </a:solidFill>
                <a:latin typeface="Arial"/>
              </a:defRPr>
            </a:pPr>
            <a:r>
              <a:t>• 高危人群低剂量螺旋CT（LDCT）年度筛查</a:t>
            </a:r>
          </a:p>
          <a:p>
            <a:pPr>
              <a:spcAft>
                <a:spcPts val="800"/>
              </a:spcAft>
              <a:defRPr sz="1050">
                <a:solidFill>
                  <a:srgbClr val="1E293B"/>
                </a:solidFill>
                <a:latin typeface="Arial"/>
              </a:defRPr>
            </a:pPr>
            <a:r>
              <a:t>• 侵入性纵隔分期首选 EBUS-TBNA 联合 EUS</a:t>
            </a:r>
          </a:p>
          <a:p>
            <a:pPr>
              <a:spcAft>
                <a:spcPts val="800"/>
              </a:spcAft>
              <a:defRPr sz="1050">
                <a:solidFill>
                  <a:srgbClr val="1E293B"/>
                </a:solidFill>
                <a:latin typeface="Arial"/>
              </a:defRPr>
            </a:pPr>
            <a:r>
              <a:t>• 全身转移排查：脑部增强MRI + 全身PET/CT</a:t>
            </a:r>
          </a:p>
          <a:p>
            <a:pPr>
              <a:spcAft>
                <a:spcPts val="800"/>
              </a:spcAft>
              <a:defRPr sz="1050">
                <a:solidFill>
                  <a:srgbClr val="1E293B"/>
                </a:solidFill>
                <a:latin typeface="Arial"/>
              </a:defRPr>
            </a:pPr>
            <a:r>
              <a:t>• 反射性十合一基因 NGS (DNA+RNA) 与 PD-L1 TPS</a:t>
            </a:r>
          </a:p>
        </p:txBody>
      </p:sp>
      <p:sp>
        <p:nvSpPr>
          <p:cNvPr id="6" name="Rectangle 5"/>
          <p:cNvSpPr/>
          <p:nvPr/>
        </p:nvSpPr>
        <p:spPr>
          <a:xfrm>
            <a:off x="731520" y="1554480"/>
            <a:ext cx="2578608" cy="10972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456432" y="1554480"/>
            <a:ext cx="2578608"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spcAft>
                <a:spcPts val="1400"/>
              </a:spcAft>
              <a:defRPr sz="1300" b="1">
                <a:solidFill>
                  <a:srgbClr val="14B8A6"/>
                </a:solidFill>
                <a:latin typeface="Arial"/>
              </a:defRPr>
            </a:pPr>
            <a:r>
              <a:t>支柱二：早中期根治与围手术期</a:t>
            </a:r>
          </a:p>
          <a:p>
            <a:pPr>
              <a:spcAft>
                <a:spcPts val="800"/>
              </a:spcAft>
              <a:defRPr sz="1050">
                <a:solidFill>
                  <a:srgbClr val="1E293B"/>
                </a:solidFill>
                <a:latin typeface="Arial"/>
              </a:defRPr>
            </a:pPr>
            <a:r>
              <a:t>• 解剖性肺叶切除或肺段切除（CALGB 140503标准）</a:t>
            </a:r>
          </a:p>
          <a:p>
            <a:pPr>
              <a:spcAft>
                <a:spcPts val="800"/>
              </a:spcAft>
              <a:defRPr sz="1050">
                <a:solidFill>
                  <a:srgbClr val="1E293B"/>
                </a:solidFill>
                <a:latin typeface="Arial"/>
              </a:defRPr>
            </a:pPr>
            <a:r>
              <a:t>• 新辅助/围手术期免疫重塑（CheckMate-816/KEYNOTE-671）</a:t>
            </a:r>
          </a:p>
          <a:p>
            <a:pPr>
              <a:spcAft>
                <a:spcPts val="800"/>
              </a:spcAft>
              <a:defRPr sz="1050">
                <a:solidFill>
                  <a:srgbClr val="1E293B"/>
                </a:solidFill>
                <a:latin typeface="Arial"/>
              </a:defRPr>
            </a:pPr>
            <a:r>
              <a:t>• 术后靶向辅助：奥希替尼 (ADAURA) / 阿来替尼 (ALINA)</a:t>
            </a:r>
          </a:p>
          <a:p>
            <a:pPr>
              <a:spcAft>
                <a:spcPts val="800"/>
              </a:spcAft>
              <a:defRPr sz="1050">
                <a:solidFill>
                  <a:srgbClr val="1E293B"/>
                </a:solidFill>
                <a:latin typeface="Arial"/>
              </a:defRPr>
            </a:pPr>
            <a:r>
              <a:t>• 局晚不可切除：放化疗后度伐利单抗或奥希替尼 (LAURA)</a:t>
            </a:r>
          </a:p>
        </p:txBody>
      </p:sp>
      <p:sp>
        <p:nvSpPr>
          <p:cNvPr id="8" name="Rectangle 7"/>
          <p:cNvSpPr/>
          <p:nvPr/>
        </p:nvSpPr>
        <p:spPr>
          <a:xfrm>
            <a:off x="3456432" y="1554480"/>
            <a:ext cx="2578608"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81344" y="1554480"/>
            <a:ext cx="2578608"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spcAft>
                <a:spcPts val="1400"/>
              </a:spcAft>
              <a:defRPr sz="1300" b="1">
                <a:solidFill>
                  <a:srgbClr val="6366F1"/>
                </a:solidFill>
                <a:latin typeface="Arial"/>
              </a:defRPr>
            </a:pPr>
            <a:r>
              <a:t>支柱三：晚期转移性分型施策</a:t>
            </a:r>
          </a:p>
          <a:p>
            <a:pPr>
              <a:spcAft>
                <a:spcPts val="800"/>
              </a:spcAft>
              <a:defRPr sz="1050">
                <a:solidFill>
                  <a:srgbClr val="1E293B"/>
                </a:solidFill>
                <a:latin typeface="Arial"/>
              </a:defRPr>
            </a:pPr>
            <a:r>
              <a:t>• 坚持“先基因后免疫，无靶免化”核心治疗原则</a:t>
            </a:r>
          </a:p>
          <a:p>
            <a:pPr>
              <a:spcAft>
                <a:spcPts val="800"/>
              </a:spcAft>
              <a:defRPr sz="1050">
                <a:solidFill>
                  <a:srgbClr val="1E293B"/>
                </a:solidFill>
                <a:latin typeface="Arial"/>
              </a:defRPr>
            </a:pPr>
            <a:r>
              <a:t>• EGFR一线：FLAURA2(靶化) vs MARIPOSA(双抗+靶向)</a:t>
            </a:r>
          </a:p>
          <a:p>
            <a:pPr>
              <a:spcAft>
                <a:spcPts val="800"/>
              </a:spcAft>
              <a:defRPr sz="1050">
                <a:solidFill>
                  <a:srgbClr val="1E293B"/>
                </a:solidFill>
                <a:latin typeface="Arial"/>
              </a:defRPr>
            </a:pPr>
            <a:r>
              <a:t>• 突破性罕见靶点：ALK (洛拉替尼)、ROS1、RET、MET、HER2</a:t>
            </a:r>
          </a:p>
          <a:p>
            <a:pPr>
              <a:spcAft>
                <a:spcPts val="800"/>
              </a:spcAft>
              <a:defRPr sz="1050">
                <a:solidFill>
                  <a:srgbClr val="1E293B"/>
                </a:solidFill>
                <a:latin typeface="Arial"/>
              </a:defRPr>
            </a:pPr>
            <a:r>
              <a:t>• 驱动基因阴性：根据 PD-L1 表达分层单药、化免或双免</a:t>
            </a:r>
          </a:p>
        </p:txBody>
      </p:sp>
      <p:sp>
        <p:nvSpPr>
          <p:cNvPr id="10" name="Rectangle 9"/>
          <p:cNvSpPr/>
          <p:nvPr/>
        </p:nvSpPr>
        <p:spPr>
          <a:xfrm>
            <a:off x="6181344" y="1554480"/>
            <a:ext cx="2578608" cy="10972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906256" y="1554480"/>
            <a:ext cx="2578608"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spcAft>
                <a:spcPts val="1400"/>
              </a:spcAft>
              <a:defRPr sz="1300" b="1">
                <a:solidFill>
                  <a:srgbClr val="F43F5E"/>
                </a:solidFill>
                <a:latin typeface="Arial"/>
              </a:defRPr>
            </a:pPr>
            <a:r>
              <a:t>支柱四：双抗与ADC前沿新纪元</a:t>
            </a:r>
          </a:p>
          <a:p>
            <a:pPr>
              <a:spcAft>
                <a:spcPts val="800"/>
              </a:spcAft>
              <a:defRPr sz="1050">
                <a:solidFill>
                  <a:srgbClr val="1E293B"/>
                </a:solidFill>
                <a:latin typeface="Arial"/>
              </a:defRPr>
            </a:pPr>
            <a:r>
              <a:t>• 依沃西单抗 (HARMONi-2) 头对头颠覆帕博利珠单抗</a:t>
            </a:r>
          </a:p>
          <a:p>
            <a:pPr>
              <a:spcAft>
                <a:spcPts val="800"/>
              </a:spcAft>
              <a:defRPr sz="1050">
                <a:solidFill>
                  <a:srgbClr val="1E293B"/>
                </a:solidFill>
                <a:latin typeface="Arial"/>
              </a:defRPr>
            </a:pPr>
            <a:r>
              <a:t>• 埃万妥单抗 (MARIPOSA/PAPILLON) 及皮下制剂变革</a:t>
            </a:r>
          </a:p>
          <a:p>
            <a:pPr>
              <a:spcAft>
                <a:spcPts val="800"/>
              </a:spcAft>
              <a:defRPr sz="1050">
                <a:solidFill>
                  <a:srgbClr val="1E293B"/>
                </a:solidFill>
                <a:latin typeface="Arial"/>
              </a:defRPr>
            </a:pPr>
            <a:r>
              <a:t>• 新一代ADC全面开花：TROP2 (Dato-DXd, MK-2870), HER2/3</a:t>
            </a:r>
          </a:p>
          <a:p>
            <a:pPr>
              <a:spcAft>
                <a:spcPts val="800"/>
              </a:spcAft>
              <a:defRPr sz="1050">
                <a:solidFill>
                  <a:srgbClr val="1E293B"/>
                </a:solidFill>
                <a:latin typeface="Arial"/>
              </a:defRPr>
            </a:pPr>
            <a:r>
              <a:t>• 清除耐药持久细胞 (DTP) 的CAR-T与个体化mRNA疫苗</a:t>
            </a:r>
          </a:p>
        </p:txBody>
      </p:sp>
      <p:sp>
        <p:nvSpPr>
          <p:cNvPr id="12" name="Rectangle 11"/>
          <p:cNvSpPr/>
          <p:nvPr/>
        </p:nvSpPr>
        <p:spPr>
          <a:xfrm>
            <a:off x="8906256" y="1554480"/>
            <a:ext cx="2578608" cy="109728"/>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0EA5E9"/>
                </a:solidFill>
                <a:latin typeface="Arial"/>
              </a:defRPr>
            </a:pPr>
            <a:r>
              <a:t>流行病学与病理分型</a:t>
            </a:r>
          </a:p>
          <a:p>
            <a:pPr>
              <a:defRPr sz="2200" b="1">
                <a:solidFill>
                  <a:srgbClr val="1E293B"/>
                </a:solidFill>
                <a:latin typeface="Arial"/>
              </a:defRPr>
            </a:pPr>
            <a:r>
              <a:t>非小细胞肺癌流行病学分布与组织/分子分型特征</a:t>
            </a:r>
          </a:p>
          <a:p>
            <a:pPr>
              <a:spcBef>
                <a:spcPts val="200"/>
              </a:spcBef>
              <a:defRPr sz="1100">
                <a:solidFill>
                  <a:srgbClr val="64748B"/>
                </a:solidFill>
                <a:latin typeface="Arial"/>
              </a:defRPr>
            </a:pPr>
            <a:r>
              <a:t>亚裔与非吸烟人群独特的分子特征决定了个体化精准诊疗路径</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00">
                <a:solidFill>
                  <a:srgbClr val="94A3B8"/>
                </a:solidFill>
                <a:latin typeface="Arial"/>
              </a:defRPr>
            </a:pPr>
            <a:r>
              <a:t>2026年非小细胞肺癌（NSCLC）临床诊疗与前沿指南 | 循证源：PubMed / ClinicalTrials.gov                                                                Slide 3 / 22</a:t>
            </a:r>
          </a:p>
        </p:txBody>
      </p:sp>
      <p:sp>
        <p:nvSpPr>
          <p:cNvPr id="5" name="Rounded Rectangle 4"/>
          <p:cNvSpPr/>
          <p:nvPr/>
        </p:nvSpPr>
        <p:spPr>
          <a:xfrm>
            <a:off x="731520" y="1554480"/>
            <a:ext cx="521208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000"/>
              </a:spcAft>
              <a:defRPr sz="1400" b="1">
                <a:solidFill>
                  <a:srgbClr val="1E293B"/>
                </a:solidFill>
                <a:latin typeface="Arial"/>
              </a:defRPr>
            </a:pPr>
            <a:r>
              <a:t>主要病理组织学亚型分布与临床特点</a:t>
            </a:r>
          </a:p>
          <a:p>
            <a:pPr>
              <a:spcAft>
                <a:spcPts val="200"/>
              </a:spcAft>
              <a:defRPr sz="1100" b="1">
                <a:solidFill>
                  <a:srgbClr val="0EA5E9"/>
                </a:solidFill>
                <a:latin typeface="Arial"/>
              </a:defRPr>
            </a:pPr>
            <a:r>
              <a:t>■ 肺腺癌 (LUAD, 50%~60%)</a:t>
            </a:r>
          </a:p>
          <a:p>
            <a:pPr>
              <a:spcAft>
                <a:spcPts val="800"/>
              </a:spcAft>
              <a:defRPr sz="950">
                <a:solidFill>
                  <a:srgbClr val="64748B"/>
                </a:solidFill>
                <a:latin typeface="Arial"/>
              </a:defRPr>
            </a:pPr>
            <a:r>
              <a:t>多发于肺外周，女性及非吸烟者常见。具有极高的驱动基因突变率（亚裔人群 EGFR 突变率高达 50%~55%，ALK 融合约 5%~7%）。需警惕微乳头及实体型等高危病理亚型。</a:t>
            </a:r>
          </a:p>
          <a:p>
            <a:pPr>
              <a:spcAft>
                <a:spcPts val="200"/>
              </a:spcAft>
              <a:defRPr sz="1100" b="1">
                <a:solidFill>
                  <a:srgbClr val="0EA5E9"/>
                </a:solidFill>
                <a:latin typeface="Arial"/>
              </a:defRPr>
            </a:pPr>
            <a:r>
              <a:t>■ 肺鳞癌 (LUSC, 25%~30%)</a:t>
            </a:r>
          </a:p>
          <a:p>
            <a:pPr>
              <a:spcAft>
                <a:spcPts val="800"/>
              </a:spcAft>
              <a:defRPr sz="950">
                <a:solidFill>
                  <a:srgbClr val="64748B"/>
                </a:solidFill>
                <a:latin typeface="Arial"/>
              </a:defRPr>
            </a:pPr>
            <a:r>
              <a:t>多发于中央大气道，与重度吸烟高度相关，易伴空洞及坏死。经典酪氨酸激酶突变罕见，免疫原性及 PD-L1 高表达比例相对较高，抗血管与化免获益显著。</a:t>
            </a:r>
          </a:p>
          <a:p>
            <a:pPr>
              <a:spcAft>
                <a:spcPts val="200"/>
              </a:spcAft>
              <a:defRPr sz="1100" b="1">
                <a:solidFill>
                  <a:srgbClr val="0EA5E9"/>
                </a:solidFill>
                <a:latin typeface="Arial"/>
              </a:defRPr>
            </a:pPr>
            <a:r>
              <a:t>■ 大细胞癌 (LCC, 5%~10%)</a:t>
            </a:r>
          </a:p>
          <a:p>
            <a:pPr>
              <a:spcAft>
                <a:spcPts val="800"/>
              </a:spcAft>
              <a:defRPr sz="950">
                <a:solidFill>
                  <a:srgbClr val="64748B"/>
                </a:solidFill>
                <a:latin typeface="Arial"/>
              </a:defRPr>
            </a:pPr>
            <a:r>
              <a:t>缺乏明确腺鳞分化的未分化恶性上皮肿瘤，恶性程度高、生长迅速，诊断依赖大标本切除及排除性免疫组化。</a:t>
            </a:r>
          </a:p>
          <a:p>
            <a:pPr>
              <a:spcAft>
                <a:spcPts val="200"/>
              </a:spcAft>
              <a:defRPr sz="1100" b="1">
                <a:solidFill>
                  <a:srgbClr val="0EA5E9"/>
                </a:solidFill>
                <a:latin typeface="Arial"/>
              </a:defRPr>
            </a:pPr>
            <a:r>
              <a:t>■ 其他特殊亚型</a:t>
            </a:r>
          </a:p>
          <a:p>
            <a:pPr>
              <a:spcAft>
                <a:spcPts val="800"/>
              </a:spcAft>
              <a:defRPr sz="950">
                <a:solidFill>
                  <a:srgbClr val="64748B"/>
                </a:solidFill>
                <a:latin typeface="Arial"/>
              </a:defRPr>
            </a:pPr>
            <a:r>
              <a:t>大细胞神经内分泌癌 (LCNEC)、腺鳞癌、肉瘤样癌。LCNEC 兼具 NSCLC 与 SCLC 双重生物学特性，极易发生早期远处转移。</a:t>
            </a:r>
          </a:p>
        </p:txBody>
      </p:sp>
      <p:sp>
        <p:nvSpPr>
          <p:cNvPr id="6" name="Rounded Rectangle 5"/>
          <p:cNvSpPr/>
          <p:nvPr/>
        </p:nvSpPr>
        <p:spPr>
          <a:xfrm>
            <a:off x="6217920" y="1554480"/>
            <a:ext cx="521208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000"/>
              </a:spcAft>
              <a:defRPr sz="1400" b="1">
                <a:solidFill>
                  <a:srgbClr val="1E293B"/>
                </a:solidFill>
                <a:latin typeface="Arial"/>
              </a:defRPr>
            </a:pPr>
            <a:r>
              <a:t>亚裔肺腺癌关键致癌驱动基因突变谱</a:t>
            </a:r>
          </a:p>
        </p:txBody>
      </p:sp>
      <p:graphicFrame>
        <p:nvGraphicFramePr>
          <p:cNvPr id="7" name="Table 6"/>
          <p:cNvGraphicFramePr>
            <a:graphicFrameLocks noGrp="1"/>
          </p:cNvGraphicFramePr>
          <p:nvPr/>
        </p:nvGraphicFramePr>
        <p:xfrm>
          <a:off x="6400800" y="2103120"/>
          <a:ext cx="4846320" cy="3840480"/>
        </p:xfrm>
        <a:graphic>
          <a:graphicData uri="http://schemas.openxmlformats.org/drawingml/2006/table">
            <a:tbl>
              <a:tblPr firstRow="1" bandRow="1">
                <a:tableStyleId>{5C22544A-7EE6-4342-B048-85BDC9FD1C3A}</a:tableStyleId>
              </a:tblPr>
              <a:tblGrid>
                <a:gridCol w="1645920"/>
                <a:gridCol w="1097280"/>
                <a:gridCol w="2103120"/>
              </a:tblGrid>
              <a:tr h="480060">
                <a:tc>
                  <a:txBody>
                    <a:bodyPr/>
                    <a:lstStyle/>
                    <a:p>
                      <a:pPr>
                        <a:defRPr sz="1000" b="1">
                          <a:solidFill>
                            <a:srgbClr val="F1F5F9"/>
                          </a:solidFill>
                          <a:latin typeface="Arial"/>
                        </a:defRPr>
                      </a:pPr>
                      <a:r>
                        <a:t>驱动基因变异</a:t>
                      </a:r>
                    </a:p>
                  </a:txBody>
                  <a:tcPr>
                    <a:solidFill>
                      <a:srgbClr val="1E293B"/>
                    </a:solidFill>
                  </a:tcPr>
                </a:tc>
                <a:tc>
                  <a:txBody>
                    <a:bodyPr/>
                    <a:lstStyle/>
                    <a:p>
                      <a:pPr>
                        <a:defRPr sz="1000" b="1">
                          <a:solidFill>
                            <a:srgbClr val="F1F5F9"/>
                          </a:solidFill>
                          <a:latin typeface="Arial"/>
                        </a:defRPr>
                      </a:pPr>
                      <a:r>
                        <a:t>亚裔突变率</a:t>
                      </a:r>
                    </a:p>
                  </a:txBody>
                  <a:tcPr>
                    <a:solidFill>
                      <a:srgbClr val="1E293B"/>
                    </a:solidFill>
                  </a:tcPr>
                </a:tc>
                <a:tc>
                  <a:txBody>
                    <a:bodyPr/>
                    <a:lstStyle/>
                    <a:p>
                      <a:pPr>
                        <a:defRPr sz="1000" b="1">
                          <a:solidFill>
                            <a:srgbClr val="F1F5F9"/>
                          </a:solidFill>
                          <a:latin typeface="Arial"/>
                        </a:defRPr>
                      </a:pPr>
                      <a:r>
                        <a:t>临床对应一线/核心靶药</a:t>
                      </a:r>
                    </a:p>
                  </a:txBody>
                  <a:tcPr>
                    <a:solidFill>
                      <a:srgbClr val="1E293B"/>
                    </a:solidFill>
                  </a:tcPr>
                </a:tc>
              </a:tr>
              <a:tr h="480060">
                <a:tc>
                  <a:txBody>
                    <a:bodyPr/>
                    <a:lstStyle/>
                    <a:p>
                      <a:pPr>
                        <a:defRPr sz="950">
                          <a:solidFill>
                            <a:srgbClr val="1E293B"/>
                          </a:solidFill>
                          <a:latin typeface="Arial"/>
                        </a:defRPr>
                      </a:pPr>
                      <a:r>
                        <a:t>EGFR 敏感突变</a:t>
                      </a:r>
                    </a:p>
                  </a:txBody>
                  <a:tcPr>
                    <a:solidFill>
                      <a:srgbClr val="F8FAFC"/>
                    </a:solidFill>
                  </a:tcPr>
                </a:tc>
                <a:tc>
                  <a:txBody>
                    <a:bodyPr/>
                    <a:lstStyle/>
                    <a:p>
                      <a:pPr>
                        <a:defRPr sz="950">
                          <a:solidFill>
                            <a:srgbClr val="1E293B"/>
                          </a:solidFill>
                          <a:latin typeface="Arial"/>
                        </a:defRPr>
                      </a:pPr>
                      <a:r>
                        <a:t>45% ~ 55%</a:t>
                      </a:r>
                    </a:p>
                  </a:txBody>
                  <a:tcPr>
                    <a:solidFill>
                      <a:srgbClr val="F8FAFC"/>
                    </a:solidFill>
                  </a:tcPr>
                </a:tc>
                <a:tc>
                  <a:txBody>
                    <a:bodyPr/>
                    <a:lstStyle/>
                    <a:p>
                      <a:pPr>
                        <a:defRPr sz="950">
                          <a:solidFill>
                            <a:srgbClr val="1E293B"/>
                          </a:solidFill>
                          <a:latin typeface="Arial"/>
                        </a:defRPr>
                      </a:pPr>
                      <a:r>
                        <a:t>奥希替尼+化疗 / 埃万妥+拉泽替尼</a:t>
                      </a:r>
                    </a:p>
                  </a:txBody>
                  <a:tcPr>
                    <a:solidFill>
                      <a:srgbClr val="F8FAFC"/>
                    </a:solidFill>
                  </a:tcPr>
                </a:tc>
              </a:tr>
              <a:tr h="480060">
                <a:tc>
                  <a:txBody>
                    <a:bodyPr/>
                    <a:lstStyle/>
                    <a:p>
                      <a:pPr>
                        <a:defRPr sz="950">
                          <a:solidFill>
                            <a:srgbClr val="1E293B"/>
                          </a:solidFill>
                          <a:latin typeface="Arial"/>
                        </a:defRPr>
                      </a:pPr>
                      <a:r>
                        <a:t>ALK 融合重排</a:t>
                      </a:r>
                    </a:p>
                  </a:txBody>
                  <a:tcPr>
                    <a:solidFill>
                      <a:srgbClr val="FFFFFF"/>
                    </a:solidFill>
                  </a:tcPr>
                </a:tc>
                <a:tc>
                  <a:txBody>
                    <a:bodyPr/>
                    <a:lstStyle/>
                    <a:p>
                      <a:pPr>
                        <a:defRPr sz="950">
                          <a:solidFill>
                            <a:srgbClr val="1E293B"/>
                          </a:solidFill>
                          <a:latin typeface="Arial"/>
                        </a:defRPr>
                      </a:pPr>
                      <a:r>
                        <a:t>5% ~ 7%</a:t>
                      </a:r>
                    </a:p>
                  </a:txBody>
                  <a:tcPr>
                    <a:solidFill>
                      <a:srgbClr val="FFFFFF"/>
                    </a:solidFill>
                  </a:tcPr>
                </a:tc>
                <a:tc>
                  <a:txBody>
                    <a:bodyPr/>
                    <a:lstStyle/>
                    <a:p>
                      <a:pPr>
                        <a:defRPr sz="950">
                          <a:solidFill>
                            <a:srgbClr val="1E293B"/>
                          </a:solidFill>
                          <a:latin typeface="Arial"/>
                        </a:defRPr>
                      </a:pPr>
                      <a:r>
                        <a:t>洛拉替尼 / 阿来替尼 (CROWN/ALINA)</a:t>
                      </a:r>
                    </a:p>
                  </a:txBody>
                  <a:tcPr>
                    <a:solidFill>
                      <a:srgbClr val="FFFFFF"/>
                    </a:solidFill>
                  </a:tcPr>
                </a:tc>
              </a:tr>
              <a:tr h="480060">
                <a:tc>
                  <a:txBody>
                    <a:bodyPr/>
                    <a:lstStyle/>
                    <a:p>
                      <a:pPr>
                        <a:defRPr sz="950">
                          <a:solidFill>
                            <a:srgbClr val="1E293B"/>
                          </a:solidFill>
                          <a:latin typeface="Arial"/>
                        </a:defRPr>
                      </a:pPr>
                      <a:r>
                        <a:t>KRAS 突变 (G12C等)</a:t>
                      </a:r>
                    </a:p>
                  </a:txBody>
                  <a:tcPr>
                    <a:solidFill>
                      <a:srgbClr val="F8FAFC"/>
                    </a:solidFill>
                  </a:tcPr>
                </a:tc>
                <a:tc>
                  <a:txBody>
                    <a:bodyPr/>
                    <a:lstStyle/>
                    <a:p>
                      <a:pPr>
                        <a:defRPr sz="950">
                          <a:solidFill>
                            <a:srgbClr val="1E293B"/>
                          </a:solidFill>
                          <a:latin typeface="Arial"/>
                        </a:defRPr>
                      </a:pPr>
                      <a:r>
                        <a:t>8% ~ 12%</a:t>
                      </a:r>
                    </a:p>
                  </a:txBody>
                  <a:tcPr>
                    <a:solidFill>
                      <a:srgbClr val="F8FAFC"/>
                    </a:solidFill>
                  </a:tcPr>
                </a:tc>
                <a:tc>
                  <a:txBody>
                    <a:bodyPr/>
                    <a:lstStyle/>
                    <a:p>
                      <a:pPr>
                        <a:defRPr sz="950">
                          <a:solidFill>
                            <a:srgbClr val="1E293B"/>
                          </a:solidFill>
                          <a:latin typeface="Arial"/>
                        </a:defRPr>
                      </a:pPr>
                      <a:r>
                        <a:t>索托拉西布 / 阿达格拉西布 / 格索雷塞</a:t>
                      </a:r>
                    </a:p>
                  </a:txBody>
                  <a:tcPr>
                    <a:solidFill>
                      <a:srgbClr val="F8FAFC"/>
                    </a:solidFill>
                  </a:tcPr>
                </a:tc>
              </a:tr>
              <a:tr h="480060">
                <a:tc>
                  <a:txBody>
                    <a:bodyPr/>
                    <a:lstStyle/>
                    <a:p>
                      <a:pPr>
                        <a:defRPr sz="950">
                          <a:solidFill>
                            <a:srgbClr val="1E293B"/>
                          </a:solidFill>
                          <a:latin typeface="Arial"/>
                        </a:defRPr>
                      </a:pPr>
                      <a:r>
                        <a:t>EGFR 20外显子插入</a:t>
                      </a:r>
                    </a:p>
                  </a:txBody>
                  <a:tcPr>
                    <a:solidFill>
                      <a:srgbClr val="FFFFFF"/>
                    </a:solidFill>
                  </a:tcPr>
                </a:tc>
                <a:tc>
                  <a:txBody>
                    <a:bodyPr/>
                    <a:lstStyle/>
                    <a:p>
                      <a:pPr>
                        <a:defRPr sz="950">
                          <a:solidFill>
                            <a:srgbClr val="1E293B"/>
                          </a:solidFill>
                          <a:latin typeface="Arial"/>
                        </a:defRPr>
                      </a:pPr>
                      <a:r>
                        <a:t>2% ~ 3%</a:t>
                      </a:r>
                    </a:p>
                  </a:txBody>
                  <a:tcPr>
                    <a:solidFill>
                      <a:srgbClr val="FFFFFF"/>
                    </a:solidFill>
                  </a:tcPr>
                </a:tc>
                <a:tc>
                  <a:txBody>
                    <a:bodyPr/>
                    <a:lstStyle/>
                    <a:p>
                      <a:pPr>
                        <a:defRPr sz="950">
                          <a:solidFill>
                            <a:srgbClr val="1E293B"/>
                          </a:solidFill>
                          <a:latin typeface="Arial"/>
                        </a:defRPr>
                      </a:pPr>
                      <a:r>
                        <a:t>埃万妥单抗+化疗 (PAPILLON) / 舒沃替尼</a:t>
                      </a:r>
                    </a:p>
                  </a:txBody>
                  <a:tcPr>
                    <a:solidFill>
                      <a:srgbClr val="FFFFFF"/>
                    </a:solidFill>
                  </a:tcPr>
                </a:tc>
              </a:tr>
              <a:tr h="480060">
                <a:tc>
                  <a:txBody>
                    <a:bodyPr/>
                    <a:lstStyle/>
                    <a:p>
                      <a:pPr>
                        <a:defRPr sz="950">
                          <a:solidFill>
                            <a:srgbClr val="1E293B"/>
                          </a:solidFill>
                          <a:latin typeface="Arial"/>
                        </a:defRPr>
                      </a:pPr>
                      <a:r>
                        <a:t>MET 14跳突 / 扩增</a:t>
                      </a:r>
                    </a:p>
                  </a:txBody>
                  <a:tcPr>
                    <a:solidFill>
                      <a:srgbClr val="F8FAFC"/>
                    </a:solidFill>
                  </a:tcPr>
                </a:tc>
                <a:tc>
                  <a:txBody>
                    <a:bodyPr/>
                    <a:lstStyle/>
                    <a:p>
                      <a:pPr>
                        <a:defRPr sz="950">
                          <a:solidFill>
                            <a:srgbClr val="1E293B"/>
                          </a:solidFill>
                          <a:latin typeface="Arial"/>
                        </a:defRPr>
                      </a:pPr>
                      <a:r>
                        <a:t>2% ~ 3%</a:t>
                      </a:r>
                    </a:p>
                  </a:txBody>
                  <a:tcPr>
                    <a:solidFill>
                      <a:srgbClr val="F8FAFC"/>
                    </a:solidFill>
                  </a:tcPr>
                </a:tc>
                <a:tc>
                  <a:txBody>
                    <a:bodyPr/>
                    <a:lstStyle/>
                    <a:p>
                      <a:pPr>
                        <a:defRPr sz="950">
                          <a:solidFill>
                            <a:srgbClr val="1E293B"/>
                          </a:solidFill>
                          <a:latin typeface="Arial"/>
                        </a:defRPr>
                      </a:pPr>
                      <a:r>
                        <a:t>特泊替尼 / 卡马替尼 / 谷美替尼</a:t>
                      </a:r>
                    </a:p>
                  </a:txBody>
                  <a:tcPr>
                    <a:solidFill>
                      <a:srgbClr val="F8FAFC"/>
                    </a:solidFill>
                  </a:tcPr>
                </a:tc>
              </a:tr>
              <a:tr h="480060">
                <a:tc>
                  <a:txBody>
                    <a:bodyPr/>
                    <a:lstStyle/>
                    <a:p>
                      <a:pPr>
                        <a:defRPr sz="950">
                          <a:solidFill>
                            <a:srgbClr val="1E293B"/>
                          </a:solidFill>
                          <a:latin typeface="Arial"/>
                        </a:defRPr>
                      </a:pPr>
                      <a:r>
                        <a:t>ROS1 / RET 融合</a:t>
                      </a:r>
                    </a:p>
                  </a:txBody>
                  <a:tcPr>
                    <a:solidFill>
                      <a:srgbClr val="FFFFFF"/>
                    </a:solidFill>
                  </a:tcPr>
                </a:tc>
                <a:tc>
                  <a:txBody>
                    <a:bodyPr/>
                    <a:lstStyle/>
                    <a:p>
                      <a:pPr>
                        <a:defRPr sz="950">
                          <a:solidFill>
                            <a:srgbClr val="1E293B"/>
                          </a:solidFill>
                          <a:latin typeface="Arial"/>
                        </a:defRPr>
                      </a:pPr>
                      <a:r>
                        <a:t>2% ~ 4%</a:t>
                      </a:r>
                    </a:p>
                  </a:txBody>
                  <a:tcPr>
                    <a:solidFill>
                      <a:srgbClr val="FFFFFF"/>
                    </a:solidFill>
                  </a:tcPr>
                </a:tc>
                <a:tc>
                  <a:txBody>
                    <a:bodyPr/>
                    <a:lstStyle/>
                    <a:p>
                      <a:pPr>
                        <a:defRPr sz="950">
                          <a:solidFill>
                            <a:srgbClr val="1E293B"/>
                          </a:solidFill>
                          <a:latin typeface="Arial"/>
                        </a:defRPr>
                      </a:pPr>
                      <a:r>
                        <a:t>瑞波替尼 (ROS1) / 塞普替尼 (RET)</a:t>
                      </a:r>
                    </a:p>
                  </a:txBody>
                  <a:tcPr>
                    <a:solidFill>
                      <a:srgbClr val="FFFFFF"/>
                    </a:solidFill>
                  </a:tcPr>
                </a:tc>
              </a:tr>
              <a:tr h="480060">
                <a:tc>
                  <a:txBody>
                    <a:bodyPr/>
                    <a:lstStyle/>
                    <a:p>
                      <a:pPr>
                        <a:defRPr sz="950">
                          <a:solidFill>
                            <a:srgbClr val="1E293B"/>
                          </a:solidFill>
                          <a:latin typeface="Arial"/>
                        </a:defRPr>
                      </a:pPr>
                      <a:r>
                        <a:t>HER2 / BRAF / NTRK</a:t>
                      </a:r>
                    </a:p>
                  </a:txBody>
                  <a:tcPr>
                    <a:solidFill>
                      <a:srgbClr val="F8FAFC"/>
                    </a:solidFill>
                  </a:tcPr>
                </a:tc>
                <a:tc>
                  <a:txBody>
                    <a:bodyPr/>
                    <a:lstStyle/>
                    <a:p>
                      <a:pPr>
                        <a:defRPr sz="950">
                          <a:solidFill>
                            <a:srgbClr val="1E293B"/>
                          </a:solidFill>
                          <a:latin typeface="Arial"/>
                        </a:defRPr>
                      </a:pPr>
                      <a:r>
                        <a:t>3% ~ 5%</a:t>
                      </a:r>
                    </a:p>
                  </a:txBody>
                  <a:tcPr>
                    <a:solidFill>
                      <a:srgbClr val="F8FAFC"/>
                    </a:solidFill>
                  </a:tcPr>
                </a:tc>
                <a:tc>
                  <a:txBody>
                    <a:bodyPr/>
                    <a:lstStyle/>
                    <a:p>
                      <a:pPr>
                        <a:defRPr sz="950">
                          <a:solidFill>
                            <a:srgbClr val="1E293B"/>
                          </a:solidFill>
                          <a:latin typeface="Arial"/>
                        </a:defRPr>
                      </a:pPr>
                      <a:r>
                        <a:t>德曲妥珠(T-DXd) / 达拉+曲美 / 拉罗替尼</a:t>
                      </a:r>
                    </a:p>
                  </a:txBody>
                  <a:tcPr>
                    <a:solidFill>
                      <a:srgbClr val="F8FAFC"/>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0EA5E9"/>
                </a:solidFill>
                <a:latin typeface="Arial"/>
              </a:defRPr>
            </a:pPr>
            <a:r>
              <a:t>筛查与早期发现</a:t>
            </a:r>
          </a:p>
          <a:p>
            <a:pPr>
              <a:defRPr sz="2200" b="1">
                <a:solidFill>
                  <a:srgbClr val="1E293B"/>
                </a:solidFill>
                <a:latin typeface="Arial"/>
              </a:defRPr>
            </a:pPr>
            <a:r>
              <a:t>低剂量螺旋CT（LDCT）高危人群筛查与 Lung-RADS 评级路径</a:t>
            </a:r>
          </a:p>
          <a:p>
            <a:pPr>
              <a:spcBef>
                <a:spcPts val="200"/>
              </a:spcBef>
              <a:defRPr sz="1100">
                <a:solidFill>
                  <a:srgbClr val="64748B"/>
                </a:solidFill>
                <a:latin typeface="Arial"/>
              </a:defRPr>
            </a:pPr>
            <a:r>
              <a:t>NLST与NELSON试验证实LDCT筛查可使肺癌死亡率相对下降20%~24%</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00">
                <a:solidFill>
                  <a:srgbClr val="94A3B8"/>
                </a:solidFill>
                <a:latin typeface="Arial"/>
              </a:defRPr>
            </a:pPr>
            <a:r>
              <a:t>2026年非小细胞肺癌（NSCLC）临床诊疗与前沿指南 | 循证源：PubMed / ClinicalTrials.gov                                                                Slide 4 / 22</a:t>
            </a:r>
          </a:p>
        </p:txBody>
      </p:sp>
      <p:sp>
        <p:nvSpPr>
          <p:cNvPr id="5" name="Rounded Rectangle 4"/>
          <p:cNvSpPr/>
          <p:nvPr/>
        </p:nvSpPr>
        <p:spPr>
          <a:xfrm>
            <a:off x="731520" y="1554480"/>
            <a:ext cx="329184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1000"/>
              </a:spcAft>
              <a:defRPr sz="1300" b="1">
                <a:solidFill>
                  <a:srgbClr val="1E293B"/>
                </a:solidFill>
                <a:latin typeface="Arial"/>
              </a:defRPr>
            </a:pPr>
            <a:r>
              <a:t>高危人群严格入选标准</a:t>
            </a:r>
          </a:p>
          <a:p>
            <a:pPr>
              <a:defRPr sz="1000" b="1">
                <a:solidFill>
                  <a:srgbClr val="0EA5E9"/>
                </a:solidFill>
                <a:latin typeface="Arial"/>
              </a:defRPr>
            </a:pPr>
            <a:r>
              <a:t>• 年龄基线：</a:t>
            </a:r>
          </a:p>
          <a:p>
            <a:pPr>
              <a:spcAft>
                <a:spcPts val="600"/>
              </a:spcAft>
              <a:defRPr sz="950">
                <a:solidFill>
                  <a:srgbClr val="64748B"/>
                </a:solidFill>
                <a:latin typeface="Arial"/>
              </a:defRPr>
            </a:pPr>
            <a:r>
              <a:t>  50 ~ 80 岁（部分共识推荐 45~75 岁）</a:t>
            </a:r>
          </a:p>
          <a:p>
            <a:pPr>
              <a:defRPr sz="1000" b="1">
                <a:solidFill>
                  <a:srgbClr val="0EA5E9"/>
                </a:solidFill>
                <a:latin typeface="Arial"/>
              </a:defRPr>
            </a:pPr>
            <a:r>
              <a:t>• 重度吸烟史：</a:t>
            </a:r>
          </a:p>
          <a:p>
            <a:pPr>
              <a:spcAft>
                <a:spcPts val="600"/>
              </a:spcAft>
              <a:defRPr sz="950">
                <a:solidFill>
                  <a:srgbClr val="64748B"/>
                </a:solidFill>
                <a:latin typeface="Arial"/>
              </a:defRPr>
            </a:pPr>
            <a:r>
              <a:t>  ≥ 20 包年（包年 = 每日包数 × 年数），目前吸烟或戒烟时间不足 15 年</a:t>
            </a:r>
          </a:p>
          <a:p>
            <a:pPr>
              <a:defRPr sz="1000" b="1">
                <a:solidFill>
                  <a:srgbClr val="0EA5E9"/>
                </a:solidFill>
                <a:latin typeface="Arial"/>
              </a:defRPr>
            </a:pPr>
            <a:r>
              <a:t>• 被动吸烟暴露：</a:t>
            </a:r>
          </a:p>
          <a:p>
            <a:pPr>
              <a:spcAft>
                <a:spcPts val="600"/>
              </a:spcAft>
              <a:defRPr sz="950">
                <a:solidFill>
                  <a:srgbClr val="64748B"/>
                </a:solidFill>
                <a:latin typeface="Arial"/>
              </a:defRPr>
            </a:pPr>
            <a:r>
              <a:t>  长期暴露于二手烟或厨房重度烹饪油烟</a:t>
            </a:r>
          </a:p>
          <a:p>
            <a:pPr>
              <a:defRPr sz="1000" b="1">
                <a:solidFill>
                  <a:srgbClr val="0EA5E9"/>
                </a:solidFill>
                <a:latin typeface="Arial"/>
              </a:defRPr>
            </a:pPr>
            <a:r>
              <a:t>• 职业致癌物：</a:t>
            </a:r>
          </a:p>
          <a:p>
            <a:pPr>
              <a:spcAft>
                <a:spcPts val="600"/>
              </a:spcAft>
              <a:defRPr sz="950">
                <a:solidFill>
                  <a:srgbClr val="64748B"/>
                </a:solidFill>
                <a:latin typeface="Arial"/>
              </a:defRPr>
            </a:pPr>
            <a:r>
              <a:t>  石棉、氡气、铍、铀、二氧化硅长期接触</a:t>
            </a:r>
          </a:p>
          <a:p>
            <a:pPr>
              <a:defRPr sz="1000" b="1">
                <a:solidFill>
                  <a:srgbClr val="0EA5E9"/>
                </a:solidFill>
                <a:latin typeface="Arial"/>
              </a:defRPr>
            </a:pPr>
            <a:r>
              <a:t>• 基础肺部疾病：</a:t>
            </a:r>
          </a:p>
          <a:p>
            <a:pPr>
              <a:spcAft>
                <a:spcPts val="600"/>
              </a:spcAft>
              <a:defRPr sz="950">
                <a:solidFill>
                  <a:srgbClr val="64748B"/>
                </a:solidFill>
                <a:latin typeface="Arial"/>
              </a:defRPr>
            </a:pPr>
            <a:r>
              <a:t>  慢性阻塞性肺疾病 (COPD)、弥漫性肺间质纤维化、既往肺结核</a:t>
            </a:r>
          </a:p>
          <a:p>
            <a:pPr>
              <a:defRPr sz="1000" b="1">
                <a:solidFill>
                  <a:srgbClr val="0EA5E9"/>
                </a:solidFill>
                <a:latin typeface="Arial"/>
              </a:defRPr>
            </a:pPr>
            <a:r>
              <a:t>• 恶性肿瘤家族史：</a:t>
            </a:r>
          </a:p>
          <a:p>
            <a:pPr>
              <a:spcAft>
                <a:spcPts val="600"/>
              </a:spcAft>
              <a:defRPr sz="950">
                <a:solidFill>
                  <a:srgbClr val="64748B"/>
                </a:solidFill>
                <a:latin typeface="Arial"/>
              </a:defRPr>
            </a:pPr>
            <a:r>
              <a:t>  一级亲属确诊肺癌病史</a:t>
            </a:r>
          </a:p>
        </p:txBody>
      </p:sp>
      <p:sp>
        <p:nvSpPr>
          <p:cNvPr id="6" name="Rounded Rectangle 5"/>
          <p:cNvSpPr/>
          <p:nvPr/>
        </p:nvSpPr>
        <p:spPr>
          <a:xfrm>
            <a:off x="4297680" y="1554480"/>
            <a:ext cx="713232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1000"/>
              </a:spcAft>
              <a:defRPr sz="1300" b="1">
                <a:solidFill>
                  <a:srgbClr val="1E293B"/>
                </a:solidFill>
                <a:latin typeface="Arial"/>
              </a:defRPr>
            </a:pPr>
            <a:r>
              <a:t>Lung-RADS 结节分类与标准随访处置原则</a:t>
            </a:r>
          </a:p>
        </p:txBody>
      </p:sp>
      <p:graphicFrame>
        <p:nvGraphicFramePr>
          <p:cNvPr id="7" name="Table 6"/>
          <p:cNvGraphicFramePr>
            <a:graphicFrameLocks noGrp="1"/>
          </p:cNvGraphicFramePr>
          <p:nvPr/>
        </p:nvGraphicFramePr>
        <p:xfrm>
          <a:off x="4480560" y="2103120"/>
          <a:ext cx="6766560" cy="3840480"/>
        </p:xfrm>
        <a:graphic>
          <a:graphicData uri="http://schemas.openxmlformats.org/drawingml/2006/table">
            <a:tbl>
              <a:tblPr firstRow="1" bandRow="1">
                <a:tableStyleId>{5C22544A-7EE6-4342-B048-85BDC9FD1C3A}</a:tableStyleId>
              </a:tblPr>
              <a:tblGrid>
                <a:gridCol w="1188720"/>
                <a:gridCol w="1645920"/>
                <a:gridCol w="1097280"/>
                <a:gridCol w="2834640"/>
              </a:tblGrid>
              <a:tr h="768096">
                <a:tc>
                  <a:txBody>
                    <a:bodyPr/>
                    <a:lstStyle/>
                    <a:p>
                      <a:pPr>
                        <a:defRPr sz="1000" b="1">
                          <a:solidFill>
                            <a:srgbClr val="F1F5F9"/>
                          </a:solidFill>
                          <a:latin typeface="Arial"/>
                        </a:defRPr>
                      </a:pPr>
                      <a:r>
                        <a:t>分类级别</a:t>
                      </a:r>
                    </a:p>
                  </a:txBody>
                  <a:tcPr>
                    <a:solidFill>
                      <a:srgbClr val="1E293B"/>
                    </a:solidFill>
                  </a:tcPr>
                </a:tc>
                <a:tc>
                  <a:txBody>
                    <a:bodyPr/>
                    <a:lstStyle/>
                    <a:p>
                      <a:pPr>
                        <a:defRPr sz="1000" b="1">
                          <a:solidFill>
                            <a:srgbClr val="F1F5F9"/>
                          </a:solidFill>
                          <a:latin typeface="Arial"/>
                        </a:defRPr>
                      </a:pPr>
                      <a:r>
                        <a:t>结节大小与影像征象</a:t>
                      </a:r>
                    </a:p>
                  </a:txBody>
                  <a:tcPr>
                    <a:solidFill>
                      <a:srgbClr val="1E293B"/>
                    </a:solidFill>
                  </a:tcPr>
                </a:tc>
                <a:tc>
                  <a:txBody>
                    <a:bodyPr/>
                    <a:lstStyle/>
                    <a:p>
                      <a:pPr>
                        <a:defRPr sz="1000" b="1">
                          <a:solidFill>
                            <a:srgbClr val="F1F5F9"/>
                          </a:solidFill>
                          <a:latin typeface="Arial"/>
                        </a:defRPr>
                      </a:pPr>
                      <a:r>
                        <a:t>恶性概率</a:t>
                      </a:r>
                    </a:p>
                  </a:txBody>
                  <a:tcPr>
                    <a:solidFill>
                      <a:srgbClr val="1E293B"/>
                    </a:solidFill>
                  </a:tcPr>
                </a:tc>
                <a:tc>
                  <a:txBody>
                    <a:bodyPr/>
                    <a:lstStyle/>
                    <a:p>
                      <a:pPr>
                        <a:defRPr sz="1000" b="1">
                          <a:solidFill>
                            <a:srgbClr val="F1F5F9"/>
                          </a:solidFill>
                          <a:latin typeface="Arial"/>
                        </a:defRPr>
                      </a:pPr>
                      <a:r>
                        <a:t>临床推荐管理策略</a:t>
                      </a:r>
                    </a:p>
                  </a:txBody>
                  <a:tcPr>
                    <a:solidFill>
                      <a:srgbClr val="1E293B"/>
                    </a:solidFill>
                  </a:tcPr>
                </a:tc>
              </a:tr>
              <a:tr h="768096">
                <a:tc>
                  <a:txBody>
                    <a:bodyPr/>
                    <a:lstStyle/>
                    <a:p>
                      <a:pPr>
                        <a:defRPr sz="950" b="1">
                          <a:solidFill>
                            <a:srgbClr val="0EA5E9"/>
                          </a:solidFill>
                          <a:latin typeface="Arial"/>
                        </a:defRPr>
                      </a:pPr>
                      <a:r>
                        <a:t>Category 1-2</a:t>
                      </a:r>
                    </a:p>
                    <a:p>
                      <a:r>
                        <a:t>(阴性/良性)</a:t>
                      </a:r>
                    </a:p>
                  </a:txBody>
                  <a:tcPr>
                    <a:solidFill>
                      <a:srgbClr val="F8FAFC"/>
                    </a:solidFill>
                  </a:tcPr>
                </a:tc>
                <a:tc>
                  <a:txBody>
                    <a:bodyPr/>
                    <a:lstStyle/>
                    <a:p>
                      <a:pPr>
                        <a:defRPr sz="950">
                          <a:solidFill>
                            <a:srgbClr val="1E293B"/>
                          </a:solidFill>
                          <a:latin typeface="Arial"/>
                        </a:defRPr>
                      </a:pPr>
                      <a:r>
                        <a:t>实性结节 &lt; 6 mm 或非实性结节 &lt; 30 mm</a:t>
                      </a:r>
                    </a:p>
                  </a:txBody>
                  <a:tcPr>
                    <a:solidFill>
                      <a:srgbClr val="F8FAFC"/>
                    </a:solidFill>
                  </a:tcPr>
                </a:tc>
                <a:tc>
                  <a:txBody>
                    <a:bodyPr/>
                    <a:lstStyle/>
                    <a:p>
                      <a:pPr>
                        <a:defRPr sz="950">
                          <a:solidFill>
                            <a:srgbClr val="1E293B"/>
                          </a:solidFill>
                          <a:latin typeface="Arial"/>
                        </a:defRPr>
                      </a:pPr>
                      <a:r>
                        <a:t>&lt; 1%</a:t>
                      </a:r>
                    </a:p>
                  </a:txBody>
                  <a:tcPr>
                    <a:solidFill>
                      <a:srgbClr val="F8FAFC"/>
                    </a:solidFill>
                  </a:tcPr>
                </a:tc>
                <a:tc>
                  <a:txBody>
                    <a:bodyPr/>
                    <a:lstStyle/>
                    <a:p>
                      <a:pPr>
                        <a:defRPr sz="950">
                          <a:solidFill>
                            <a:srgbClr val="1E293B"/>
                          </a:solidFill>
                          <a:latin typeface="Arial"/>
                        </a:defRPr>
                      </a:pPr>
                      <a:r>
                        <a:t>继续维持每年 1 次 LDCT 常规筛查。无需过度检查。</a:t>
                      </a:r>
                    </a:p>
                  </a:txBody>
                  <a:tcPr>
                    <a:solidFill>
                      <a:srgbClr val="F8FAFC"/>
                    </a:solidFill>
                  </a:tcPr>
                </a:tc>
              </a:tr>
              <a:tr h="768096">
                <a:tc>
                  <a:txBody>
                    <a:bodyPr/>
                    <a:lstStyle/>
                    <a:p>
                      <a:pPr>
                        <a:defRPr sz="950" b="1">
                          <a:solidFill>
                            <a:srgbClr val="0EA5E9"/>
                          </a:solidFill>
                          <a:latin typeface="Arial"/>
                        </a:defRPr>
                      </a:pPr>
                      <a:r>
                        <a:t>Category 3</a:t>
                      </a:r>
                    </a:p>
                    <a:p>
                      <a:r>
                        <a:t>(可能良性)</a:t>
                      </a:r>
                    </a:p>
                  </a:txBody>
                  <a:tcPr>
                    <a:solidFill>
                      <a:srgbClr val="FFFFFF"/>
                    </a:solidFill>
                  </a:tcPr>
                </a:tc>
                <a:tc>
                  <a:txBody>
                    <a:bodyPr/>
                    <a:lstStyle/>
                    <a:p>
                      <a:pPr>
                        <a:defRPr sz="950">
                          <a:solidFill>
                            <a:srgbClr val="1E293B"/>
                          </a:solidFill>
                          <a:latin typeface="Arial"/>
                        </a:defRPr>
                      </a:pPr>
                      <a:r>
                        <a:t>实性结节 6 ~ 8 mm 或部分实性 ≥ 6 mm</a:t>
                      </a:r>
                    </a:p>
                  </a:txBody>
                  <a:tcPr>
                    <a:solidFill>
                      <a:srgbClr val="FFFFFF"/>
                    </a:solidFill>
                  </a:tcPr>
                </a:tc>
                <a:tc>
                  <a:txBody>
                    <a:bodyPr/>
                    <a:lstStyle/>
                    <a:p>
                      <a:pPr>
                        <a:defRPr sz="950">
                          <a:solidFill>
                            <a:srgbClr val="1E293B"/>
                          </a:solidFill>
                          <a:latin typeface="Arial"/>
                        </a:defRPr>
                      </a:pPr>
                      <a:r>
                        <a:t>1% ~ 2%</a:t>
                      </a:r>
                    </a:p>
                  </a:txBody>
                  <a:tcPr>
                    <a:solidFill>
                      <a:srgbClr val="FFFFFF"/>
                    </a:solidFill>
                  </a:tcPr>
                </a:tc>
                <a:tc>
                  <a:txBody>
                    <a:bodyPr/>
                    <a:lstStyle/>
                    <a:p>
                      <a:pPr>
                        <a:defRPr sz="950">
                          <a:solidFill>
                            <a:srgbClr val="1E293B"/>
                          </a:solidFill>
                          <a:latin typeface="Arial"/>
                        </a:defRPr>
                      </a:pPr>
                      <a:r>
                        <a:t>6 个月后复查薄层低剂量 CT，观察是否有生长或密度变化。</a:t>
                      </a:r>
                    </a:p>
                  </a:txBody>
                  <a:tcPr>
                    <a:solidFill>
                      <a:srgbClr val="FFFFFF"/>
                    </a:solidFill>
                  </a:tcPr>
                </a:tc>
              </a:tr>
              <a:tr h="768096">
                <a:tc>
                  <a:txBody>
                    <a:bodyPr/>
                    <a:lstStyle/>
                    <a:p>
                      <a:pPr>
                        <a:defRPr sz="950" b="1">
                          <a:solidFill>
                            <a:srgbClr val="F59E0B"/>
                          </a:solidFill>
                          <a:latin typeface="Arial"/>
                        </a:defRPr>
                      </a:pPr>
                      <a:r>
                        <a:t>Category 4A</a:t>
                      </a:r>
                    </a:p>
                    <a:p>
                      <a:r>
                        <a:t>(可疑恶性)</a:t>
                      </a:r>
                    </a:p>
                  </a:txBody>
                  <a:tcPr>
                    <a:solidFill>
                      <a:srgbClr val="F8FAFC"/>
                    </a:solidFill>
                  </a:tcPr>
                </a:tc>
                <a:tc>
                  <a:txBody>
                    <a:bodyPr/>
                    <a:lstStyle/>
                    <a:p>
                      <a:pPr>
                        <a:defRPr sz="950">
                          <a:solidFill>
                            <a:srgbClr val="1E293B"/>
                          </a:solidFill>
                          <a:latin typeface="Arial"/>
                        </a:defRPr>
                      </a:pPr>
                      <a:r>
                        <a:t>实性结节 8 ~ 15 mm 或部分实性实性成分 ≥ 6 mm</a:t>
                      </a:r>
                    </a:p>
                  </a:txBody>
                  <a:tcPr>
                    <a:solidFill>
                      <a:srgbClr val="F8FAFC"/>
                    </a:solidFill>
                  </a:tcPr>
                </a:tc>
                <a:tc>
                  <a:txBody>
                    <a:bodyPr/>
                    <a:lstStyle/>
                    <a:p>
                      <a:pPr>
                        <a:defRPr sz="950">
                          <a:solidFill>
                            <a:srgbClr val="1E293B"/>
                          </a:solidFill>
                          <a:latin typeface="Arial"/>
                        </a:defRPr>
                      </a:pPr>
                      <a:r>
                        <a:t>5% ~ 15%</a:t>
                      </a:r>
                    </a:p>
                  </a:txBody>
                  <a:tcPr>
                    <a:solidFill>
                      <a:srgbClr val="F8FAFC"/>
                    </a:solidFill>
                  </a:tcPr>
                </a:tc>
                <a:tc>
                  <a:txBody>
                    <a:bodyPr/>
                    <a:lstStyle/>
                    <a:p>
                      <a:pPr>
                        <a:defRPr sz="950">
                          <a:solidFill>
                            <a:srgbClr val="1E293B"/>
                          </a:solidFill>
                          <a:latin typeface="Arial"/>
                        </a:defRPr>
                      </a:pPr>
                      <a:r>
                        <a:t>3 个月后复查薄层 CT；对于实性成分大者可考虑 PET/CT。</a:t>
                      </a:r>
                    </a:p>
                  </a:txBody>
                  <a:tcPr>
                    <a:solidFill>
                      <a:srgbClr val="F8FAFC"/>
                    </a:solidFill>
                  </a:tcPr>
                </a:tc>
              </a:tr>
              <a:tr h="768096">
                <a:tc>
                  <a:txBody>
                    <a:bodyPr/>
                    <a:lstStyle/>
                    <a:p>
                      <a:pPr>
                        <a:defRPr sz="950" b="1">
                          <a:solidFill>
                            <a:srgbClr val="F43F5E"/>
                          </a:solidFill>
                          <a:latin typeface="Arial"/>
                        </a:defRPr>
                      </a:pPr>
                      <a:r>
                        <a:t>Category 4B/4X</a:t>
                      </a:r>
                    </a:p>
                    <a:p>
                      <a:r>
                        <a:t>(极高可疑)</a:t>
                      </a:r>
                    </a:p>
                  </a:txBody>
                  <a:tcPr>
                    <a:solidFill>
                      <a:srgbClr val="FFFFFF"/>
                    </a:solidFill>
                  </a:tcPr>
                </a:tc>
                <a:tc>
                  <a:txBody>
                    <a:bodyPr/>
                    <a:lstStyle/>
                    <a:p>
                      <a:pPr>
                        <a:defRPr sz="950">
                          <a:solidFill>
                            <a:srgbClr val="1E293B"/>
                          </a:solidFill>
                          <a:latin typeface="Arial"/>
                        </a:defRPr>
                      </a:pPr>
                      <a:r>
                        <a:t>实性结节 ≥ 15 mm 或具有明确毛刺、分叶、空泡恶性征象</a:t>
                      </a:r>
                    </a:p>
                  </a:txBody>
                  <a:tcPr>
                    <a:solidFill>
                      <a:srgbClr val="FFFFFF"/>
                    </a:solidFill>
                  </a:tcPr>
                </a:tc>
                <a:tc>
                  <a:txBody>
                    <a:bodyPr/>
                    <a:lstStyle/>
                    <a:p>
                      <a:pPr>
                        <a:defRPr sz="950">
                          <a:solidFill>
                            <a:srgbClr val="1E293B"/>
                          </a:solidFill>
                          <a:latin typeface="Arial"/>
                        </a:defRPr>
                      </a:pPr>
                      <a:r>
                        <a:t>&gt; 15%</a:t>
                      </a:r>
                    </a:p>
                  </a:txBody>
                  <a:tcPr>
                    <a:solidFill>
                      <a:srgbClr val="FFFFFF"/>
                    </a:solidFill>
                  </a:tcPr>
                </a:tc>
                <a:tc>
                  <a:txBody>
                    <a:bodyPr/>
                    <a:lstStyle/>
                    <a:p>
                      <a:pPr>
                        <a:defRPr sz="950">
                          <a:solidFill>
                            <a:srgbClr val="1E293B"/>
                          </a:solidFill>
                          <a:latin typeface="Arial"/>
                        </a:defRPr>
                      </a:pPr>
                      <a:r>
                        <a:t>立即启动 MDT 多学科会诊。推荐增强胸部CT、PET/CT、经皮穿刺活检或直接胸腔镜切除。</a:t>
                      </a:r>
                    </a:p>
                  </a:txBody>
                  <a:tcP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0EA5E9"/>
                </a:solidFill>
                <a:latin typeface="Arial"/>
              </a:defRPr>
            </a:pPr>
            <a:r>
              <a:t>确诊与临床分期</a:t>
            </a:r>
          </a:p>
          <a:p>
            <a:pPr>
              <a:defRPr sz="2200" b="1">
                <a:solidFill>
                  <a:srgbClr val="1E293B"/>
                </a:solidFill>
                <a:latin typeface="Arial"/>
              </a:defRPr>
            </a:pPr>
            <a:r>
              <a:t>影像学全身排查、活检技术与侵入性纵隔分期全流程</a:t>
            </a:r>
          </a:p>
          <a:p>
            <a:pPr>
              <a:spcBef>
                <a:spcPts val="200"/>
              </a:spcBef>
              <a:defRPr sz="1100">
                <a:solidFill>
                  <a:srgbClr val="64748B"/>
                </a:solidFill>
                <a:latin typeface="Arial"/>
              </a:defRPr>
            </a:pPr>
            <a:r>
              <a:t>精准的纵隔淋巴结分期是区分根治性切除与非手术局部晚期的关键分水岭</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00">
                <a:solidFill>
                  <a:srgbClr val="94A3B8"/>
                </a:solidFill>
                <a:latin typeface="Arial"/>
              </a:defRPr>
            </a:pPr>
            <a:r>
              <a:t>2026年非小细胞肺癌（NSCLC）临床诊疗与前沿指南 | 循证源：PubMed / ClinicalTrials.gov                                                                Slide 5 / 22</a:t>
            </a:r>
          </a:p>
        </p:txBody>
      </p:sp>
      <p:sp>
        <p:nvSpPr>
          <p:cNvPr id="5" name="Rounded Rectangle 4"/>
          <p:cNvSpPr/>
          <p:nvPr/>
        </p:nvSpPr>
        <p:spPr>
          <a:xfrm>
            <a:off x="731520" y="1554480"/>
            <a:ext cx="2578608"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0"/>
          <a:lstStyle/>
          <a:p>
            <a:pPr algn="ctr">
              <a:spcAft>
                <a:spcPts val="1200"/>
              </a:spcAft>
              <a:defRPr sz="1200" b="1">
                <a:solidFill>
                  <a:srgbClr val="0EA5E9"/>
                </a:solidFill>
                <a:latin typeface="Arial"/>
              </a:defRPr>
            </a:pPr>
            <a:r>
              <a:t>Step 1: 胸部薄层增强CT</a:t>
            </a:r>
          </a:p>
          <a:p>
            <a:pPr>
              <a:spcAft>
                <a:spcPts val="800"/>
              </a:spcAft>
              <a:defRPr sz="1000">
                <a:solidFill>
                  <a:srgbClr val="1E293B"/>
                </a:solidFill>
                <a:latin typeface="Arial"/>
              </a:defRPr>
            </a:pPr>
            <a:r>
              <a:t>• 层厚 ≤ 1.25 mm，包含肺尖至全肝与肾上腺</a:t>
            </a:r>
          </a:p>
          <a:p>
            <a:pPr>
              <a:spcAft>
                <a:spcPts val="800"/>
              </a:spcAft>
              <a:defRPr sz="1000">
                <a:solidFill>
                  <a:srgbClr val="1E293B"/>
                </a:solidFill>
                <a:latin typeface="Arial"/>
              </a:defRPr>
            </a:pPr>
            <a:r>
              <a:t>• 评估肿瘤大小(T)、胸膜牵拉、支气管侵犯</a:t>
            </a:r>
          </a:p>
          <a:p>
            <a:pPr>
              <a:spcAft>
                <a:spcPts val="800"/>
              </a:spcAft>
              <a:defRPr sz="1000">
                <a:solidFill>
                  <a:srgbClr val="1E293B"/>
                </a:solidFill>
                <a:latin typeface="Arial"/>
              </a:defRPr>
            </a:pPr>
            <a:r>
              <a:t>• 初步判断肺门及纵隔淋巴结(N)形态与短径</a:t>
            </a:r>
          </a:p>
        </p:txBody>
      </p:sp>
      <p:sp>
        <p:nvSpPr>
          <p:cNvPr id="6" name="Rectangle 5"/>
          <p:cNvSpPr/>
          <p:nvPr/>
        </p:nvSpPr>
        <p:spPr>
          <a:xfrm>
            <a:off x="731520" y="1554480"/>
            <a:ext cx="2578608" cy="10972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456432" y="1554480"/>
            <a:ext cx="2578608"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0"/>
          <a:lstStyle/>
          <a:p>
            <a:pPr algn="ctr">
              <a:spcAft>
                <a:spcPts val="1200"/>
              </a:spcAft>
              <a:defRPr sz="1200" b="1">
                <a:solidFill>
                  <a:srgbClr val="6366F1"/>
                </a:solidFill>
                <a:latin typeface="Arial"/>
              </a:defRPr>
            </a:pPr>
            <a:r>
              <a:t>Step 2: 转移排查 (CNS+PET)</a:t>
            </a:r>
          </a:p>
          <a:p>
            <a:pPr>
              <a:spcAft>
                <a:spcPts val="800"/>
              </a:spcAft>
              <a:defRPr sz="1000">
                <a:solidFill>
                  <a:srgbClr val="1E293B"/>
                </a:solidFill>
                <a:latin typeface="Arial"/>
              </a:defRPr>
            </a:pPr>
            <a:r>
              <a:t>• 增强脑部 MRI：首选金标准（敏感性优于CT）</a:t>
            </a:r>
          </a:p>
          <a:p>
            <a:pPr>
              <a:spcAft>
                <a:spcPts val="800"/>
              </a:spcAft>
              <a:defRPr sz="1000">
                <a:solidFill>
                  <a:srgbClr val="1E293B"/>
                </a:solidFill>
                <a:latin typeface="Arial"/>
              </a:defRPr>
            </a:pPr>
            <a:r>
              <a:t>• 全身 18F-FDG PET/CT：排除隐匿远处转移</a:t>
            </a:r>
          </a:p>
          <a:p>
            <a:pPr>
              <a:spcAft>
                <a:spcPts val="800"/>
              </a:spcAft>
              <a:defRPr sz="1000">
                <a:solidFill>
                  <a:srgbClr val="1E293B"/>
                </a:solidFill>
                <a:latin typeface="Arial"/>
              </a:defRPr>
            </a:pPr>
            <a:r>
              <a:t>• 评估纵隔淋巴结代谢活性（SUVmax）</a:t>
            </a:r>
          </a:p>
        </p:txBody>
      </p:sp>
      <p:sp>
        <p:nvSpPr>
          <p:cNvPr id="8" name="Rectangle 7"/>
          <p:cNvSpPr/>
          <p:nvPr/>
        </p:nvSpPr>
        <p:spPr>
          <a:xfrm>
            <a:off x="3456432" y="1554480"/>
            <a:ext cx="2578608" cy="10972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81344" y="1554480"/>
            <a:ext cx="2578608"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0"/>
          <a:lstStyle/>
          <a:p>
            <a:pPr algn="ctr">
              <a:spcAft>
                <a:spcPts val="1200"/>
              </a:spcAft>
              <a:defRPr sz="1200" b="1">
                <a:solidFill>
                  <a:srgbClr val="14B8A6"/>
                </a:solidFill>
                <a:latin typeface="Arial"/>
              </a:defRPr>
            </a:pPr>
            <a:r>
              <a:t>Step 3: 组织获取与活检</a:t>
            </a:r>
          </a:p>
          <a:p>
            <a:pPr>
              <a:spcAft>
                <a:spcPts val="800"/>
              </a:spcAft>
              <a:defRPr sz="1000">
                <a:solidFill>
                  <a:srgbClr val="1E293B"/>
                </a:solidFill>
                <a:latin typeface="Arial"/>
              </a:defRPr>
            </a:pPr>
            <a:r>
              <a:t>• 中央型：支气管镜直视活检/刷检/超声引导</a:t>
            </a:r>
          </a:p>
          <a:p>
            <a:pPr>
              <a:spcAft>
                <a:spcPts val="800"/>
              </a:spcAft>
              <a:defRPr sz="1000">
                <a:solidFill>
                  <a:srgbClr val="1E293B"/>
                </a:solidFill>
                <a:latin typeface="Arial"/>
              </a:defRPr>
            </a:pPr>
            <a:r>
              <a:t>• 周围型：CT引导下经皮肺穿刺/导航支气管镜</a:t>
            </a:r>
          </a:p>
          <a:p>
            <a:pPr>
              <a:spcAft>
                <a:spcPts val="800"/>
              </a:spcAft>
              <a:defRPr sz="1000">
                <a:solidFill>
                  <a:srgbClr val="1E293B"/>
                </a:solidFill>
                <a:latin typeface="Arial"/>
              </a:defRPr>
            </a:pPr>
            <a:r>
              <a:t>• 胸水：胸穿细胞块包埋或内科胸腔镜活检</a:t>
            </a:r>
          </a:p>
        </p:txBody>
      </p:sp>
      <p:sp>
        <p:nvSpPr>
          <p:cNvPr id="10" name="Rectangle 9"/>
          <p:cNvSpPr/>
          <p:nvPr/>
        </p:nvSpPr>
        <p:spPr>
          <a:xfrm>
            <a:off x="6181344" y="1554480"/>
            <a:ext cx="2578608"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906256" y="1554480"/>
            <a:ext cx="2578608"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0"/>
          <a:lstStyle/>
          <a:p>
            <a:pPr algn="ctr">
              <a:spcAft>
                <a:spcPts val="1200"/>
              </a:spcAft>
              <a:defRPr sz="1200" b="1">
                <a:solidFill>
                  <a:srgbClr val="F43F5E"/>
                </a:solidFill>
                <a:latin typeface="Arial"/>
              </a:defRPr>
            </a:pPr>
            <a:r>
              <a:t>Step 4: 侵入性纵隔分期</a:t>
            </a:r>
          </a:p>
          <a:p>
            <a:pPr>
              <a:spcAft>
                <a:spcPts val="800"/>
              </a:spcAft>
              <a:defRPr sz="1000">
                <a:solidFill>
                  <a:srgbClr val="1E293B"/>
                </a:solidFill>
                <a:latin typeface="Arial"/>
              </a:defRPr>
            </a:pPr>
            <a:r>
              <a:t>• 指征：病灶 &gt; 3cm、中央型或PET阳性N1-N3</a:t>
            </a:r>
          </a:p>
          <a:p>
            <a:pPr>
              <a:spcAft>
                <a:spcPts val="800"/>
              </a:spcAft>
              <a:defRPr sz="1000">
                <a:solidFill>
                  <a:srgbClr val="1E293B"/>
                </a:solidFill>
                <a:latin typeface="Arial"/>
              </a:defRPr>
            </a:pPr>
            <a:r>
              <a:t>• 首选 EBUS-TBNA 联合 EUS-FNA 细针穿刺</a:t>
            </a:r>
          </a:p>
          <a:p>
            <a:pPr>
              <a:spcAft>
                <a:spcPts val="800"/>
              </a:spcAft>
              <a:defRPr sz="1000">
                <a:solidFill>
                  <a:srgbClr val="1E293B"/>
                </a:solidFill>
                <a:latin typeface="Arial"/>
              </a:defRPr>
            </a:pPr>
            <a:r>
              <a:t>• 若EBUS阴性但高度可疑N2，需行纵隔镜确认</a:t>
            </a:r>
          </a:p>
        </p:txBody>
      </p:sp>
      <p:sp>
        <p:nvSpPr>
          <p:cNvPr id="12" name="Rectangle 11"/>
          <p:cNvSpPr/>
          <p:nvPr/>
        </p:nvSpPr>
        <p:spPr>
          <a:xfrm>
            <a:off x="8906256" y="1554480"/>
            <a:ext cx="2578608" cy="109728"/>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0EA5E9"/>
                </a:solidFill>
                <a:latin typeface="Arial"/>
              </a:defRPr>
            </a:pPr>
            <a:r>
              <a:t>分子病理与基因检测</a:t>
            </a:r>
          </a:p>
          <a:p>
            <a:pPr>
              <a:defRPr sz="2200" b="1">
                <a:solidFill>
                  <a:srgbClr val="1E293B"/>
                </a:solidFill>
                <a:latin typeface="Arial"/>
              </a:defRPr>
            </a:pPr>
            <a:r>
              <a:t>全基因谱反射性检测规范：DNA+RNA 双向 NGS 面板与 PD-L1</a:t>
            </a:r>
          </a:p>
          <a:p>
            <a:pPr>
              <a:spcBef>
                <a:spcPts val="200"/>
              </a:spcBef>
              <a:defRPr sz="1100">
                <a:solidFill>
                  <a:srgbClr val="64748B"/>
                </a:solidFill>
                <a:latin typeface="Arial"/>
              </a:defRPr>
            </a:pPr>
            <a:r>
              <a:t>治疗前必须获得完整的基因变异谱与PD-L1表达，杜绝在盲测状态下盲目使用免疫治疗</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00">
                <a:solidFill>
                  <a:srgbClr val="94A3B8"/>
                </a:solidFill>
                <a:latin typeface="Arial"/>
              </a:defRPr>
            </a:pPr>
            <a:r>
              <a:t>2026年非小细胞肺癌（NSCLC）临床诊疗与前沿指南 | 循证源：PubMed / ClinicalTrials.gov                                                                Slide 6 / 22</a:t>
            </a:r>
          </a:p>
        </p:txBody>
      </p:sp>
      <p:sp>
        <p:nvSpPr>
          <p:cNvPr id="5" name="Rounded Rectangle 4"/>
          <p:cNvSpPr/>
          <p:nvPr/>
        </p:nvSpPr>
        <p:spPr>
          <a:xfrm>
            <a:off x="731520" y="1554480"/>
            <a:ext cx="347472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1000"/>
              </a:spcAft>
              <a:defRPr sz="1300" b="1">
                <a:solidFill>
                  <a:srgbClr val="1E293B"/>
                </a:solidFill>
                <a:latin typeface="Arial"/>
              </a:defRPr>
            </a:pPr>
            <a:r>
              <a:t>反射性基因检测核心规范</a:t>
            </a:r>
          </a:p>
          <a:p>
            <a:pPr>
              <a:defRPr sz="1050" b="1">
                <a:solidFill>
                  <a:srgbClr val="0EA5E9"/>
                </a:solidFill>
                <a:latin typeface="Arial"/>
              </a:defRPr>
            </a:pPr>
            <a:r>
              <a:t>★ 强制检测人群：</a:t>
            </a:r>
          </a:p>
          <a:p>
            <a:pPr>
              <a:spcAft>
                <a:spcPts val="600"/>
              </a:spcAft>
              <a:defRPr sz="950">
                <a:solidFill>
                  <a:srgbClr val="64748B"/>
                </a:solidFill>
                <a:latin typeface="Arial"/>
              </a:defRPr>
            </a:pPr>
            <a:r>
              <a:t>   所有非鳞状细胞癌初治患者；对于不吸烟、年轻或活检小标本的鳞癌患者强烈推荐检测。</a:t>
            </a:r>
          </a:p>
          <a:p>
            <a:pPr>
              <a:defRPr sz="1050" b="1">
                <a:solidFill>
                  <a:srgbClr val="0EA5E9"/>
                </a:solidFill>
                <a:latin typeface="Arial"/>
              </a:defRPr>
            </a:pPr>
            <a:r>
              <a:t>★ 推荐检测平台：</a:t>
            </a:r>
          </a:p>
          <a:p>
            <a:pPr>
              <a:spcAft>
                <a:spcPts val="600"/>
              </a:spcAft>
              <a:defRPr sz="950">
                <a:solidFill>
                  <a:srgbClr val="64748B"/>
                </a:solidFill>
                <a:latin typeface="Arial"/>
              </a:defRPr>
            </a:pPr>
            <a:r>
              <a:t>   DNA+RNA 联合二代测序（NGS）。RNA-seq 对 ALK, ROS1, RET 融合及 MET 14外显子跳跃突变的检出灵敏度显著优于单纯 DNA 测序。</a:t>
            </a:r>
          </a:p>
          <a:p>
            <a:pPr>
              <a:defRPr sz="1050" b="1">
                <a:solidFill>
                  <a:srgbClr val="0EA5E9"/>
                </a:solidFill>
                <a:latin typeface="Arial"/>
              </a:defRPr>
            </a:pPr>
            <a:r>
              <a:t>★ PD-L1 IHC 检测：</a:t>
            </a:r>
          </a:p>
          <a:p>
            <a:pPr>
              <a:spcAft>
                <a:spcPts val="600"/>
              </a:spcAft>
              <a:defRPr sz="950">
                <a:solidFill>
                  <a:srgbClr val="64748B"/>
                </a:solidFill>
                <a:latin typeface="Arial"/>
              </a:defRPr>
            </a:pPr>
            <a:r>
              <a:t>   推荐采用 22C3 或 SP263 经认证抗体平台，明确报告肿瘤细胞阳性比例评分 (TPS, 0%, 1%~49%, ≥50%)。</a:t>
            </a:r>
          </a:p>
          <a:p>
            <a:pPr>
              <a:defRPr sz="1050" b="1">
                <a:solidFill>
                  <a:srgbClr val="0EA5E9"/>
                </a:solidFill>
                <a:latin typeface="Arial"/>
              </a:defRPr>
            </a:pPr>
            <a:r>
              <a:t>★ 液体活检 (ctDNA)：</a:t>
            </a:r>
          </a:p>
          <a:p>
            <a:pPr>
              <a:spcAft>
                <a:spcPts val="600"/>
              </a:spcAft>
              <a:defRPr sz="950">
                <a:solidFill>
                  <a:srgbClr val="64748B"/>
                </a:solidFill>
                <a:latin typeface="Arial"/>
              </a:defRPr>
            </a:pPr>
            <a:r>
              <a:t>   当肿瘤组织标本不足或无法侵入性活检时，血液 ctDNA NGS 可作为有效补充手段；同时用于监测靶向治疗耐药与微小残留病灶(MRD)。</a:t>
            </a:r>
          </a:p>
        </p:txBody>
      </p:sp>
      <p:sp>
        <p:nvSpPr>
          <p:cNvPr id="6" name="Rounded Rectangle 5"/>
          <p:cNvSpPr/>
          <p:nvPr/>
        </p:nvSpPr>
        <p:spPr>
          <a:xfrm>
            <a:off x="4480560" y="1554480"/>
            <a:ext cx="694944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1000"/>
              </a:spcAft>
              <a:defRPr sz="1300" b="1">
                <a:solidFill>
                  <a:srgbClr val="1E293B"/>
                </a:solidFill>
                <a:latin typeface="Arial"/>
              </a:defRPr>
            </a:pPr>
            <a:r>
              <a:t>十项核心驱动基因与免疫标志物一览</a:t>
            </a:r>
          </a:p>
        </p:txBody>
      </p:sp>
      <p:graphicFrame>
        <p:nvGraphicFramePr>
          <p:cNvPr id="7" name="Table 6"/>
          <p:cNvGraphicFramePr>
            <a:graphicFrameLocks noGrp="1"/>
          </p:cNvGraphicFramePr>
          <p:nvPr/>
        </p:nvGraphicFramePr>
        <p:xfrm>
          <a:off x="4663440" y="2103120"/>
          <a:ext cx="6583680" cy="3840480"/>
        </p:xfrm>
        <a:graphic>
          <a:graphicData uri="http://schemas.openxmlformats.org/drawingml/2006/table">
            <a:tbl>
              <a:tblPr firstRow="1" bandRow="1">
                <a:tableStyleId>{5C22544A-7EE6-4342-B048-85BDC9FD1C3A}</a:tableStyleId>
              </a:tblPr>
              <a:tblGrid>
                <a:gridCol w="1188720"/>
                <a:gridCol w="1005840"/>
                <a:gridCol w="1188720"/>
                <a:gridCol w="3200400"/>
              </a:tblGrid>
              <a:tr h="349134">
                <a:tc>
                  <a:txBody>
                    <a:bodyPr/>
                    <a:lstStyle/>
                    <a:p>
                      <a:pPr>
                        <a:defRPr sz="950" b="1">
                          <a:solidFill>
                            <a:srgbClr val="F1F5F9"/>
                          </a:solidFill>
                          <a:latin typeface="Arial"/>
                        </a:defRPr>
                      </a:pPr>
                      <a:r>
                        <a:t>生物标志物</a:t>
                      </a:r>
                    </a:p>
                  </a:txBody>
                  <a:tcPr>
                    <a:solidFill>
                      <a:srgbClr val="1E293B"/>
                    </a:solidFill>
                  </a:tcPr>
                </a:tc>
                <a:tc>
                  <a:txBody>
                    <a:bodyPr/>
                    <a:lstStyle/>
                    <a:p>
                      <a:pPr>
                        <a:defRPr sz="950" b="1">
                          <a:solidFill>
                            <a:srgbClr val="F1F5F9"/>
                          </a:solidFill>
                          <a:latin typeface="Arial"/>
                        </a:defRPr>
                      </a:pPr>
                      <a:r>
                        <a:t>突变/表达率</a:t>
                      </a:r>
                    </a:p>
                  </a:txBody>
                  <a:tcPr>
                    <a:solidFill>
                      <a:srgbClr val="1E293B"/>
                    </a:solidFill>
                  </a:tcPr>
                </a:tc>
                <a:tc>
                  <a:txBody>
                    <a:bodyPr/>
                    <a:lstStyle/>
                    <a:p>
                      <a:pPr>
                        <a:defRPr sz="950" b="1">
                          <a:solidFill>
                            <a:srgbClr val="F1F5F9"/>
                          </a:solidFill>
                          <a:latin typeface="Arial"/>
                        </a:defRPr>
                      </a:pPr>
                      <a:r>
                        <a:t>首选检测技术</a:t>
                      </a:r>
                    </a:p>
                  </a:txBody>
                  <a:tcPr>
                    <a:solidFill>
                      <a:srgbClr val="1E293B"/>
                    </a:solidFill>
                  </a:tcPr>
                </a:tc>
                <a:tc>
                  <a:txBody>
                    <a:bodyPr/>
                    <a:lstStyle/>
                    <a:p>
                      <a:pPr>
                        <a:defRPr sz="950" b="1">
                          <a:solidFill>
                            <a:srgbClr val="F1F5F9"/>
                          </a:solidFill>
                          <a:latin typeface="Arial"/>
                        </a:defRPr>
                      </a:pPr>
                      <a:r>
                        <a:t>对应核心获批/推荐药物</a:t>
                      </a:r>
                    </a:p>
                  </a:txBody>
                  <a:tcPr>
                    <a:solidFill>
                      <a:srgbClr val="1E293B"/>
                    </a:solidFill>
                  </a:tcPr>
                </a:tc>
              </a:tr>
              <a:tr h="349134">
                <a:tc>
                  <a:txBody>
                    <a:bodyPr/>
                    <a:lstStyle/>
                    <a:p>
                      <a:pPr>
                        <a:defRPr sz="850" b="1">
                          <a:solidFill>
                            <a:srgbClr val="0EA5E9"/>
                          </a:solidFill>
                          <a:latin typeface="Arial"/>
                        </a:defRPr>
                      </a:pPr>
                      <a:r>
                        <a:t>EGFR 敏感突变</a:t>
                      </a:r>
                    </a:p>
                  </a:txBody>
                  <a:tcPr>
                    <a:solidFill>
                      <a:srgbClr val="F8FAFC"/>
                    </a:solidFill>
                  </a:tcPr>
                </a:tc>
                <a:tc>
                  <a:txBody>
                    <a:bodyPr/>
                    <a:lstStyle/>
                    <a:p>
                      <a:pPr>
                        <a:defRPr sz="850">
                          <a:solidFill>
                            <a:srgbClr val="1E293B"/>
                          </a:solidFill>
                          <a:latin typeface="Arial"/>
                        </a:defRPr>
                      </a:pPr>
                      <a:r>
                        <a:t>45% ~ 55%</a:t>
                      </a:r>
                    </a:p>
                  </a:txBody>
                  <a:tcPr>
                    <a:solidFill>
                      <a:srgbClr val="F8FAFC"/>
                    </a:solidFill>
                  </a:tcPr>
                </a:tc>
                <a:tc>
                  <a:txBody>
                    <a:bodyPr/>
                    <a:lstStyle/>
                    <a:p>
                      <a:pPr>
                        <a:defRPr sz="850">
                          <a:solidFill>
                            <a:srgbClr val="1E293B"/>
                          </a:solidFill>
                          <a:latin typeface="Arial"/>
                        </a:defRPr>
                      </a:pPr>
                      <a:r>
                        <a:t>NGS / ARMS-PCR</a:t>
                      </a:r>
                    </a:p>
                  </a:txBody>
                  <a:tcPr>
                    <a:solidFill>
                      <a:srgbClr val="F8FAFC"/>
                    </a:solidFill>
                  </a:tcPr>
                </a:tc>
                <a:tc>
                  <a:txBody>
                    <a:bodyPr/>
                    <a:lstStyle/>
                    <a:p>
                      <a:pPr>
                        <a:defRPr sz="850">
                          <a:solidFill>
                            <a:srgbClr val="1E293B"/>
                          </a:solidFill>
                          <a:latin typeface="Arial"/>
                        </a:defRPr>
                      </a:pPr>
                      <a:r>
                        <a:t>奥希替尼+化疗、埃万妥单抗+拉泽替尼、三代单药</a:t>
                      </a:r>
                    </a:p>
                  </a:txBody>
                  <a:tcPr>
                    <a:solidFill>
                      <a:srgbClr val="F8FAFC"/>
                    </a:solidFill>
                  </a:tcPr>
                </a:tc>
              </a:tr>
              <a:tr h="349134">
                <a:tc>
                  <a:txBody>
                    <a:bodyPr/>
                    <a:lstStyle/>
                    <a:p>
                      <a:pPr>
                        <a:defRPr sz="850" b="1">
                          <a:solidFill>
                            <a:srgbClr val="0EA5E9"/>
                          </a:solidFill>
                          <a:latin typeface="Arial"/>
                        </a:defRPr>
                      </a:pPr>
                      <a:r>
                        <a:t>ALK 融合</a:t>
                      </a:r>
                    </a:p>
                  </a:txBody>
                  <a:tcPr>
                    <a:solidFill>
                      <a:srgbClr val="FFFFFF"/>
                    </a:solidFill>
                  </a:tcPr>
                </a:tc>
                <a:tc>
                  <a:txBody>
                    <a:bodyPr/>
                    <a:lstStyle/>
                    <a:p>
                      <a:pPr>
                        <a:defRPr sz="850">
                          <a:solidFill>
                            <a:srgbClr val="1E293B"/>
                          </a:solidFill>
                          <a:latin typeface="Arial"/>
                        </a:defRPr>
                      </a:pPr>
                      <a:r>
                        <a:t>5% ~ 7%</a:t>
                      </a:r>
                    </a:p>
                  </a:txBody>
                  <a:tcPr>
                    <a:solidFill>
                      <a:srgbClr val="FFFFFF"/>
                    </a:solidFill>
                  </a:tcPr>
                </a:tc>
                <a:tc>
                  <a:txBody>
                    <a:bodyPr/>
                    <a:lstStyle/>
                    <a:p>
                      <a:pPr>
                        <a:defRPr sz="850">
                          <a:solidFill>
                            <a:srgbClr val="1E293B"/>
                          </a:solidFill>
                          <a:latin typeface="Arial"/>
                        </a:defRPr>
                      </a:pPr>
                      <a:r>
                        <a:t>RNA-NGS / Ventana IHC</a:t>
                      </a:r>
                    </a:p>
                  </a:txBody>
                  <a:tcPr>
                    <a:solidFill>
                      <a:srgbClr val="FFFFFF"/>
                    </a:solidFill>
                  </a:tcPr>
                </a:tc>
                <a:tc>
                  <a:txBody>
                    <a:bodyPr/>
                    <a:lstStyle/>
                    <a:p>
                      <a:pPr>
                        <a:defRPr sz="850">
                          <a:solidFill>
                            <a:srgbClr val="1E293B"/>
                          </a:solidFill>
                          <a:latin typeface="Arial"/>
                        </a:defRPr>
                      </a:pPr>
                      <a:r>
                        <a:t>洛拉替尼 (CROWN)、阿来替尼 (ALINA)</a:t>
                      </a:r>
                    </a:p>
                  </a:txBody>
                  <a:tcPr>
                    <a:solidFill>
                      <a:srgbClr val="FFFFFF"/>
                    </a:solidFill>
                  </a:tcPr>
                </a:tc>
              </a:tr>
              <a:tr h="349134">
                <a:tc>
                  <a:txBody>
                    <a:bodyPr/>
                    <a:lstStyle/>
                    <a:p>
                      <a:pPr>
                        <a:defRPr sz="850" b="1">
                          <a:solidFill>
                            <a:srgbClr val="0EA5E9"/>
                          </a:solidFill>
                          <a:latin typeface="Arial"/>
                        </a:defRPr>
                      </a:pPr>
                      <a:r>
                        <a:t>ROS1 融合</a:t>
                      </a:r>
                    </a:p>
                  </a:txBody>
                  <a:tcPr>
                    <a:solidFill>
                      <a:srgbClr val="F8FAFC"/>
                    </a:solidFill>
                  </a:tcPr>
                </a:tc>
                <a:tc>
                  <a:txBody>
                    <a:bodyPr/>
                    <a:lstStyle/>
                    <a:p>
                      <a:pPr>
                        <a:defRPr sz="850">
                          <a:solidFill>
                            <a:srgbClr val="1E293B"/>
                          </a:solidFill>
                          <a:latin typeface="Arial"/>
                        </a:defRPr>
                      </a:pPr>
                      <a:r>
                        <a:t>1% ~ 2%</a:t>
                      </a:r>
                    </a:p>
                  </a:txBody>
                  <a:tcPr>
                    <a:solidFill>
                      <a:srgbClr val="F8FAFC"/>
                    </a:solidFill>
                  </a:tcPr>
                </a:tc>
                <a:tc>
                  <a:txBody>
                    <a:bodyPr/>
                    <a:lstStyle/>
                    <a:p>
                      <a:pPr>
                        <a:defRPr sz="850">
                          <a:solidFill>
                            <a:srgbClr val="1E293B"/>
                          </a:solidFill>
                          <a:latin typeface="Arial"/>
                        </a:defRPr>
                      </a:pPr>
                      <a:r>
                        <a:t>RNA-NGS / FISH</a:t>
                      </a:r>
                    </a:p>
                  </a:txBody>
                  <a:tcPr>
                    <a:solidFill>
                      <a:srgbClr val="F8FAFC"/>
                    </a:solidFill>
                  </a:tcPr>
                </a:tc>
                <a:tc>
                  <a:txBody>
                    <a:bodyPr/>
                    <a:lstStyle/>
                    <a:p>
                      <a:pPr>
                        <a:defRPr sz="850">
                          <a:solidFill>
                            <a:srgbClr val="1E293B"/>
                          </a:solidFill>
                          <a:latin typeface="Arial"/>
                        </a:defRPr>
                      </a:pPr>
                      <a:r>
                        <a:t>瑞波替尼 (Repotrectinib)、恩曲替尼、克唑替尼</a:t>
                      </a:r>
                    </a:p>
                  </a:txBody>
                  <a:tcPr>
                    <a:solidFill>
                      <a:srgbClr val="F8FAFC"/>
                    </a:solidFill>
                  </a:tcPr>
                </a:tc>
              </a:tr>
              <a:tr h="349134">
                <a:tc>
                  <a:txBody>
                    <a:bodyPr/>
                    <a:lstStyle/>
                    <a:p>
                      <a:pPr>
                        <a:defRPr sz="850" b="1">
                          <a:solidFill>
                            <a:srgbClr val="0EA5E9"/>
                          </a:solidFill>
                          <a:latin typeface="Arial"/>
                        </a:defRPr>
                      </a:pPr>
                      <a:r>
                        <a:t>BRAF V600E</a:t>
                      </a:r>
                    </a:p>
                  </a:txBody>
                  <a:tcPr>
                    <a:solidFill>
                      <a:srgbClr val="FFFFFF"/>
                    </a:solidFill>
                  </a:tcPr>
                </a:tc>
                <a:tc>
                  <a:txBody>
                    <a:bodyPr/>
                    <a:lstStyle/>
                    <a:p>
                      <a:pPr>
                        <a:defRPr sz="850">
                          <a:solidFill>
                            <a:srgbClr val="1E293B"/>
                          </a:solidFill>
                          <a:latin typeface="Arial"/>
                        </a:defRPr>
                      </a:pPr>
                      <a:r>
                        <a:t>1% ~ 3%</a:t>
                      </a:r>
                    </a:p>
                  </a:txBody>
                  <a:tcPr>
                    <a:solidFill>
                      <a:srgbClr val="FFFFFF"/>
                    </a:solidFill>
                  </a:tcPr>
                </a:tc>
                <a:tc>
                  <a:txBody>
                    <a:bodyPr/>
                    <a:lstStyle/>
                    <a:p>
                      <a:pPr>
                        <a:defRPr sz="850">
                          <a:solidFill>
                            <a:srgbClr val="1E293B"/>
                          </a:solidFill>
                          <a:latin typeface="Arial"/>
                        </a:defRPr>
                      </a:pPr>
                      <a:r>
                        <a:t>NGS / PCR</a:t>
                      </a:r>
                    </a:p>
                  </a:txBody>
                  <a:tcPr>
                    <a:solidFill>
                      <a:srgbClr val="FFFFFF"/>
                    </a:solidFill>
                  </a:tcPr>
                </a:tc>
                <a:tc>
                  <a:txBody>
                    <a:bodyPr/>
                    <a:lstStyle/>
                    <a:p>
                      <a:pPr>
                        <a:defRPr sz="850">
                          <a:solidFill>
                            <a:srgbClr val="1E293B"/>
                          </a:solidFill>
                          <a:latin typeface="Arial"/>
                        </a:defRPr>
                      </a:pPr>
                      <a:r>
                        <a:t>达拉非尼+曲美替尼、康奈非尼+比美替尼 (PHAROS)</a:t>
                      </a:r>
                    </a:p>
                  </a:txBody>
                  <a:tcPr>
                    <a:solidFill>
                      <a:srgbClr val="FFFFFF"/>
                    </a:solidFill>
                  </a:tcPr>
                </a:tc>
              </a:tr>
              <a:tr h="349134">
                <a:tc>
                  <a:txBody>
                    <a:bodyPr/>
                    <a:lstStyle/>
                    <a:p>
                      <a:pPr>
                        <a:defRPr sz="850" b="1">
                          <a:solidFill>
                            <a:srgbClr val="0EA5E9"/>
                          </a:solidFill>
                          <a:latin typeface="Arial"/>
                        </a:defRPr>
                      </a:pPr>
                      <a:r>
                        <a:t>MET 14跳突/扩增</a:t>
                      </a:r>
                    </a:p>
                  </a:txBody>
                  <a:tcPr>
                    <a:solidFill>
                      <a:srgbClr val="F8FAFC"/>
                    </a:solidFill>
                  </a:tcPr>
                </a:tc>
                <a:tc>
                  <a:txBody>
                    <a:bodyPr/>
                    <a:lstStyle/>
                    <a:p>
                      <a:pPr>
                        <a:defRPr sz="850">
                          <a:solidFill>
                            <a:srgbClr val="1E293B"/>
                          </a:solidFill>
                          <a:latin typeface="Arial"/>
                        </a:defRPr>
                      </a:pPr>
                      <a:r>
                        <a:t>2% ~ 3%</a:t>
                      </a:r>
                    </a:p>
                  </a:txBody>
                  <a:tcPr>
                    <a:solidFill>
                      <a:srgbClr val="F8FAFC"/>
                    </a:solidFill>
                  </a:tcPr>
                </a:tc>
                <a:tc>
                  <a:txBody>
                    <a:bodyPr/>
                    <a:lstStyle/>
                    <a:p>
                      <a:pPr>
                        <a:defRPr sz="850">
                          <a:solidFill>
                            <a:srgbClr val="1E293B"/>
                          </a:solidFill>
                          <a:latin typeface="Arial"/>
                        </a:defRPr>
                      </a:pPr>
                      <a:r>
                        <a:t>RNA-NGS</a:t>
                      </a:r>
                    </a:p>
                  </a:txBody>
                  <a:tcPr>
                    <a:solidFill>
                      <a:srgbClr val="F8FAFC"/>
                    </a:solidFill>
                  </a:tcPr>
                </a:tc>
                <a:tc>
                  <a:txBody>
                    <a:bodyPr/>
                    <a:lstStyle/>
                    <a:p>
                      <a:pPr>
                        <a:defRPr sz="850">
                          <a:solidFill>
                            <a:srgbClr val="1E293B"/>
                          </a:solidFill>
                          <a:latin typeface="Arial"/>
                        </a:defRPr>
                      </a:pPr>
                      <a:r>
                        <a:t>特泊替尼、卡马替尼、谷美替尼、赛沃替尼</a:t>
                      </a:r>
                    </a:p>
                  </a:txBody>
                  <a:tcPr>
                    <a:solidFill>
                      <a:srgbClr val="F8FAFC"/>
                    </a:solidFill>
                  </a:tcPr>
                </a:tc>
              </a:tr>
              <a:tr h="349134">
                <a:tc>
                  <a:txBody>
                    <a:bodyPr/>
                    <a:lstStyle/>
                    <a:p>
                      <a:pPr>
                        <a:defRPr sz="850" b="1">
                          <a:solidFill>
                            <a:srgbClr val="0EA5E9"/>
                          </a:solidFill>
                          <a:latin typeface="Arial"/>
                        </a:defRPr>
                      </a:pPr>
                      <a:r>
                        <a:t>RET 融合</a:t>
                      </a:r>
                    </a:p>
                  </a:txBody>
                  <a:tcPr>
                    <a:solidFill>
                      <a:srgbClr val="FFFFFF"/>
                    </a:solidFill>
                  </a:tcPr>
                </a:tc>
                <a:tc>
                  <a:txBody>
                    <a:bodyPr/>
                    <a:lstStyle/>
                    <a:p>
                      <a:pPr>
                        <a:defRPr sz="850">
                          <a:solidFill>
                            <a:srgbClr val="1E293B"/>
                          </a:solidFill>
                          <a:latin typeface="Arial"/>
                        </a:defRPr>
                      </a:pPr>
                      <a:r>
                        <a:t>1% ~ 2%</a:t>
                      </a:r>
                    </a:p>
                  </a:txBody>
                  <a:tcPr>
                    <a:solidFill>
                      <a:srgbClr val="FFFFFF"/>
                    </a:solidFill>
                  </a:tcPr>
                </a:tc>
                <a:tc>
                  <a:txBody>
                    <a:bodyPr/>
                    <a:lstStyle/>
                    <a:p>
                      <a:pPr>
                        <a:defRPr sz="850">
                          <a:solidFill>
                            <a:srgbClr val="1E293B"/>
                          </a:solidFill>
                          <a:latin typeface="Arial"/>
                        </a:defRPr>
                      </a:pPr>
                      <a:r>
                        <a:t>RNA-NGS / FISH</a:t>
                      </a:r>
                    </a:p>
                  </a:txBody>
                  <a:tcPr>
                    <a:solidFill>
                      <a:srgbClr val="FFFFFF"/>
                    </a:solidFill>
                  </a:tcPr>
                </a:tc>
                <a:tc>
                  <a:txBody>
                    <a:bodyPr/>
                    <a:lstStyle/>
                    <a:p>
                      <a:pPr>
                        <a:defRPr sz="850">
                          <a:solidFill>
                            <a:srgbClr val="1E293B"/>
                          </a:solidFill>
                          <a:latin typeface="Arial"/>
                        </a:defRPr>
                      </a:pPr>
                      <a:r>
                        <a:t>塞普替尼 (LIBRETTO-431)、普拉替尼</a:t>
                      </a:r>
                    </a:p>
                  </a:txBody>
                  <a:tcPr>
                    <a:solidFill>
                      <a:srgbClr val="FFFFFF"/>
                    </a:solidFill>
                  </a:tcPr>
                </a:tc>
              </a:tr>
              <a:tr h="349134">
                <a:tc>
                  <a:txBody>
                    <a:bodyPr/>
                    <a:lstStyle/>
                    <a:p>
                      <a:pPr>
                        <a:defRPr sz="850" b="1">
                          <a:solidFill>
                            <a:srgbClr val="0EA5E9"/>
                          </a:solidFill>
                          <a:latin typeface="Arial"/>
                        </a:defRPr>
                      </a:pPr>
                      <a:r>
                        <a:t>EGFR 20外显子插入</a:t>
                      </a:r>
                    </a:p>
                  </a:txBody>
                  <a:tcPr>
                    <a:solidFill>
                      <a:srgbClr val="F8FAFC"/>
                    </a:solidFill>
                  </a:tcPr>
                </a:tc>
                <a:tc>
                  <a:txBody>
                    <a:bodyPr/>
                    <a:lstStyle/>
                    <a:p>
                      <a:pPr>
                        <a:defRPr sz="850">
                          <a:solidFill>
                            <a:srgbClr val="1E293B"/>
                          </a:solidFill>
                          <a:latin typeface="Arial"/>
                        </a:defRPr>
                      </a:pPr>
                      <a:r>
                        <a:t>2% ~ 3%</a:t>
                      </a:r>
                    </a:p>
                  </a:txBody>
                  <a:tcPr>
                    <a:solidFill>
                      <a:srgbClr val="F8FAFC"/>
                    </a:solidFill>
                  </a:tcPr>
                </a:tc>
                <a:tc>
                  <a:txBody>
                    <a:bodyPr/>
                    <a:lstStyle/>
                    <a:p>
                      <a:pPr>
                        <a:defRPr sz="850">
                          <a:solidFill>
                            <a:srgbClr val="1E293B"/>
                          </a:solidFill>
                          <a:latin typeface="Arial"/>
                        </a:defRPr>
                      </a:pPr>
                      <a:r>
                        <a:t>NGS (DNA+RNA)</a:t>
                      </a:r>
                    </a:p>
                  </a:txBody>
                  <a:tcPr>
                    <a:solidFill>
                      <a:srgbClr val="F8FAFC"/>
                    </a:solidFill>
                  </a:tcPr>
                </a:tc>
                <a:tc>
                  <a:txBody>
                    <a:bodyPr/>
                    <a:lstStyle/>
                    <a:p>
                      <a:pPr>
                        <a:defRPr sz="850">
                          <a:solidFill>
                            <a:srgbClr val="1E293B"/>
                          </a:solidFill>
                          <a:latin typeface="Arial"/>
                        </a:defRPr>
                      </a:pPr>
                      <a:r>
                        <a:t>埃万妥单抗+化疗 (PAPILLON)、舒沃替尼</a:t>
                      </a:r>
                    </a:p>
                  </a:txBody>
                  <a:tcPr>
                    <a:solidFill>
                      <a:srgbClr val="F8FAFC"/>
                    </a:solidFill>
                  </a:tcPr>
                </a:tc>
              </a:tr>
              <a:tr h="349134">
                <a:tc>
                  <a:txBody>
                    <a:bodyPr/>
                    <a:lstStyle/>
                    <a:p>
                      <a:pPr>
                        <a:defRPr sz="850" b="1">
                          <a:solidFill>
                            <a:srgbClr val="0EA5E9"/>
                          </a:solidFill>
                          <a:latin typeface="Arial"/>
                        </a:defRPr>
                      </a:pPr>
                      <a:r>
                        <a:t>KRAS G12C</a:t>
                      </a:r>
                    </a:p>
                  </a:txBody>
                  <a:tcPr>
                    <a:solidFill>
                      <a:srgbClr val="FFFFFF"/>
                    </a:solidFill>
                  </a:tcPr>
                </a:tc>
                <a:tc>
                  <a:txBody>
                    <a:bodyPr/>
                    <a:lstStyle/>
                    <a:p>
                      <a:pPr>
                        <a:defRPr sz="850">
                          <a:solidFill>
                            <a:srgbClr val="1E293B"/>
                          </a:solidFill>
                          <a:latin typeface="Arial"/>
                        </a:defRPr>
                      </a:pPr>
                      <a:r>
                        <a:t>8% ~ 12%</a:t>
                      </a:r>
                    </a:p>
                  </a:txBody>
                  <a:tcPr>
                    <a:solidFill>
                      <a:srgbClr val="FFFFFF"/>
                    </a:solidFill>
                  </a:tcPr>
                </a:tc>
                <a:tc>
                  <a:txBody>
                    <a:bodyPr/>
                    <a:lstStyle/>
                    <a:p>
                      <a:pPr>
                        <a:defRPr sz="850">
                          <a:solidFill>
                            <a:srgbClr val="1E293B"/>
                          </a:solidFill>
                          <a:latin typeface="Arial"/>
                        </a:defRPr>
                      </a:pPr>
                      <a:r>
                        <a:t>NGS</a:t>
                      </a:r>
                    </a:p>
                  </a:txBody>
                  <a:tcPr>
                    <a:solidFill>
                      <a:srgbClr val="FFFFFF"/>
                    </a:solidFill>
                  </a:tcPr>
                </a:tc>
                <a:tc>
                  <a:txBody>
                    <a:bodyPr/>
                    <a:lstStyle/>
                    <a:p>
                      <a:pPr>
                        <a:defRPr sz="850">
                          <a:solidFill>
                            <a:srgbClr val="1E293B"/>
                          </a:solidFill>
                          <a:latin typeface="Arial"/>
                        </a:defRPr>
                      </a:pPr>
                      <a:r>
                        <a:t>索托拉西布、阿达格拉西布、格索雷塞</a:t>
                      </a:r>
                    </a:p>
                  </a:txBody>
                  <a:tcPr>
                    <a:solidFill>
                      <a:srgbClr val="FFFFFF"/>
                    </a:solidFill>
                  </a:tcPr>
                </a:tc>
              </a:tr>
              <a:tr h="349134">
                <a:tc>
                  <a:txBody>
                    <a:bodyPr/>
                    <a:lstStyle/>
                    <a:p>
                      <a:pPr>
                        <a:defRPr sz="850" b="1">
                          <a:solidFill>
                            <a:srgbClr val="0EA5E9"/>
                          </a:solidFill>
                          <a:latin typeface="Arial"/>
                        </a:defRPr>
                      </a:pPr>
                      <a:r>
                        <a:t>HER2 (ERBB2)</a:t>
                      </a:r>
                    </a:p>
                  </a:txBody>
                  <a:tcPr>
                    <a:solidFill>
                      <a:srgbClr val="F8FAFC"/>
                    </a:solidFill>
                  </a:tcPr>
                </a:tc>
                <a:tc>
                  <a:txBody>
                    <a:bodyPr/>
                    <a:lstStyle/>
                    <a:p>
                      <a:pPr>
                        <a:defRPr sz="850">
                          <a:solidFill>
                            <a:srgbClr val="1E293B"/>
                          </a:solidFill>
                          <a:latin typeface="Arial"/>
                        </a:defRPr>
                      </a:pPr>
                      <a:r>
                        <a:t>2% ~ 4%</a:t>
                      </a:r>
                    </a:p>
                  </a:txBody>
                  <a:tcPr>
                    <a:solidFill>
                      <a:srgbClr val="F8FAFC"/>
                    </a:solidFill>
                  </a:tcPr>
                </a:tc>
                <a:tc>
                  <a:txBody>
                    <a:bodyPr/>
                    <a:lstStyle/>
                    <a:p>
                      <a:pPr>
                        <a:defRPr sz="850">
                          <a:solidFill>
                            <a:srgbClr val="1E293B"/>
                          </a:solidFill>
                          <a:latin typeface="Arial"/>
                        </a:defRPr>
                      </a:pPr>
                      <a:r>
                        <a:t>NGS (Exon 20 ins)</a:t>
                      </a:r>
                    </a:p>
                  </a:txBody>
                  <a:tcPr>
                    <a:solidFill>
                      <a:srgbClr val="F8FAFC"/>
                    </a:solidFill>
                  </a:tcPr>
                </a:tc>
                <a:tc>
                  <a:txBody>
                    <a:bodyPr/>
                    <a:lstStyle/>
                    <a:p>
                      <a:pPr>
                        <a:defRPr sz="850">
                          <a:solidFill>
                            <a:srgbClr val="1E293B"/>
                          </a:solidFill>
                          <a:latin typeface="Arial"/>
                        </a:defRPr>
                      </a:pPr>
                      <a:r>
                        <a:t>德曲妥珠单抗 (T-DXd)、宗格替尼 (Zongertinib)</a:t>
                      </a:r>
                    </a:p>
                  </a:txBody>
                  <a:tcPr>
                    <a:solidFill>
                      <a:srgbClr val="F8FAFC"/>
                    </a:solidFill>
                  </a:tcPr>
                </a:tc>
              </a:tr>
              <a:tr h="349140">
                <a:tc>
                  <a:txBody>
                    <a:bodyPr/>
                    <a:lstStyle/>
                    <a:p>
                      <a:pPr>
                        <a:defRPr sz="850" b="1">
                          <a:solidFill>
                            <a:srgbClr val="0EA5E9"/>
                          </a:solidFill>
                          <a:latin typeface="Arial"/>
                        </a:defRPr>
                      </a:pPr>
                      <a:r>
                        <a:t>PD-L1 表达 (TPS)</a:t>
                      </a:r>
                    </a:p>
                  </a:txBody>
                  <a:tcPr>
                    <a:solidFill>
                      <a:srgbClr val="FFFFFF"/>
                    </a:solidFill>
                  </a:tcPr>
                </a:tc>
                <a:tc>
                  <a:txBody>
                    <a:bodyPr/>
                    <a:lstStyle/>
                    <a:p>
                      <a:pPr>
                        <a:defRPr sz="850">
                          <a:solidFill>
                            <a:srgbClr val="1E293B"/>
                          </a:solidFill>
                          <a:latin typeface="Arial"/>
                        </a:defRPr>
                      </a:pPr>
                      <a:r>
                        <a:t>≥50% 约30%</a:t>
                      </a:r>
                    </a:p>
                  </a:txBody>
                  <a:tcPr>
                    <a:solidFill>
                      <a:srgbClr val="FFFFFF"/>
                    </a:solidFill>
                  </a:tcPr>
                </a:tc>
                <a:tc>
                  <a:txBody>
                    <a:bodyPr/>
                    <a:lstStyle/>
                    <a:p>
                      <a:pPr>
                        <a:defRPr sz="850">
                          <a:solidFill>
                            <a:srgbClr val="1E293B"/>
                          </a:solidFill>
                          <a:latin typeface="Arial"/>
                        </a:defRPr>
                      </a:pPr>
                      <a:r>
                        <a:t>IHC (22C3 / SP263)</a:t>
                      </a:r>
                    </a:p>
                  </a:txBody>
                  <a:tcPr>
                    <a:solidFill>
                      <a:srgbClr val="FFFFFF"/>
                    </a:solidFill>
                  </a:tcPr>
                </a:tc>
                <a:tc>
                  <a:txBody>
                    <a:bodyPr/>
                    <a:lstStyle/>
                    <a:p>
                      <a:pPr>
                        <a:defRPr sz="850">
                          <a:solidFill>
                            <a:srgbClr val="1E293B"/>
                          </a:solidFill>
                          <a:latin typeface="Arial"/>
                        </a:defRPr>
                      </a:pPr>
                      <a:r>
                        <a:t>依沃西单抗 (HARMONi-2)、帕博利珠单抗单药 / 化免</a:t>
                      </a:r>
                    </a:p>
                  </a:txBody>
                  <a:tcP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0EA5E9"/>
                </a:solidFill>
                <a:latin typeface="Arial"/>
              </a:defRPr>
            </a:pPr>
            <a:r>
              <a:t>TNM 分期系统</a:t>
            </a:r>
          </a:p>
          <a:p>
            <a:pPr>
              <a:defRPr sz="2200" b="1">
                <a:solidFill>
                  <a:srgbClr val="1E293B"/>
                </a:solidFill>
                <a:latin typeface="Arial"/>
              </a:defRPr>
            </a:pPr>
            <a:r>
              <a:t>AJCC/UICC 肺癌 TNM 分期系统精解与临床解构</a:t>
            </a:r>
          </a:p>
          <a:p>
            <a:pPr>
              <a:spcBef>
                <a:spcPts val="200"/>
              </a:spcBef>
              <a:defRPr sz="1100">
                <a:solidFill>
                  <a:srgbClr val="64748B"/>
                </a:solidFill>
                <a:latin typeface="Arial"/>
              </a:defRPr>
            </a:pPr>
            <a:r>
              <a:t>第8版标准与第9版前沿衔接：细化原发灶大小、纵隔淋巴结站数与寡转移分层</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00">
                <a:solidFill>
                  <a:srgbClr val="94A3B8"/>
                </a:solidFill>
                <a:latin typeface="Arial"/>
              </a:defRPr>
            </a:pPr>
            <a:r>
              <a:t>2026年非小细胞肺癌（NSCLC）临床诊疗与前沿指南 | 循证源：PubMed / ClinicalTrials.gov                                                                Slide 7 / 22</a:t>
            </a:r>
          </a:p>
        </p:txBody>
      </p:sp>
      <p:sp>
        <p:nvSpPr>
          <p:cNvPr id="5" name="Rounded Rectangle 4"/>
          <p:cNvSpPr/>
          <p:nvPr/>
        </p:nvSpPr>
        <p:spPr>
          <a:xfrm>
            <a:off x="731520" y="1554480"/>
            <a:ext cx="3456432"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spcAft>
                <a:spcPts val="1200"/>
              </a:spcAft>
              <a:defRPr sz="1300" b="1">
                <a:solidFill>
                  <a:srgbClr val="0EA5E9"/>
                </a:solidFill>
                <a:latin typeface="Arial"/>
              </a:defRPr>
            </a:pPr>
            <a:r>
              <a:t>T 原发肿瘤分期 (Tumor)</a:t>
            </a:r>
          </a:p>
          <a:p>
            <a:pPr>
              <a:spcAft>
                <a:spcPts val="200"/>
              </a:spcAft>
              <a:defRPr sz="1050" b="1">
                <a:solidFill>
                  <a:srgbClr val="1E293B"/>
                </a:solidFill>
                <a:latin typeface="Arial"/>
              </a:defRPr>
            </a:pPr>
            <a:r>
              <a:t>▶ T1 (≤ 3 cm)</a:t>
            </a:r>
          </a:p>
          <a:p>
            <a:pPr>
              <a:spcAft>
                <a:spcPts val="800"/>
              </a:spcAft>
              <a:defRPr sz="950">
                <a:solidFill>
                  <a:srgbClr val="64748B"/>
                </a:solidFill>
                <a:latin typeface="Arial"/>
              </a:defRPr>
            </a:pPr>
            <a:r>
              <a:t>T1a (≤ 1cm), T1b (&gt; 1~2cm), T1c (&gt; 2~3cm)。未侵犯主支气管。</a:t>
            </a:r>
          </a:p>
          <a:p>
            <a:pPr>
              <a:spcAft>
                <a:spcPts val="200"/>
              </a:spcAft>
              <a:defRPr sz="1050" b="1">
                <a:solidFill>
                  <a:srgbClr val="1E293B"/>
                </a:solidFill>
                <a:latin typeface="Arial"/>
              </a:defRPr>
            </a:pPr>
            <a:r>
              <a:t>▶ T2 (&gt; 3 ~ 5 cm)</a:t>
            </a:r>
          </a:p>
          <a:p>
            <a:pPr>
              <a:spcAft>
                <a:spcPts val="800"/>
              </a:spcAft>
              <a:defRPr sz="950">
                <a:solidFill>
                  <a:srgbClr val="64748B"/>
                </a:solidFill>
                <a:latin typeface="Arial"/>
              </a:defRPr>
            </a:pPr>
            <a:r>
              <a:t>累及主支气管但距隆突 ≥ 2cm；累及脏层胸膜；部分肺不张。</a:t>
            </a:r>
          </a:p>
          <a:p>
            <a:pPr>
              <a:spcAft>
                <a:spcPts val="200"/>
              </a:spcAft>
              <a:defRPr sz="1050" b="1">
                <a:solidFill>
                  <a:srgbClr val="1E293B"/>
                </a:solidFill>
                <a:latin typeface="Arial"/>
              </a:defRPr>
            </a:pPr>
            <a:r>
              <a:t>▶ T3 (&gt; 5 ~ 7 cm)</a:t>
            </a:r>
          </a:p>
          <a:p>
            <a:pPr>
              <a:spcAft>
                <a:spcPts val="800"/>
              </a:spcAft>
              <a:defRPr sz="950">
                <a:solidFill>
                  <a:srgbClr val="64748B"/>
                </a:solidFill>
                <a:latin typeface="Arial"/>
              </a:defRPr>
            </a:pPr>
            <a:r>
              <a:t>侵犯胸壁、心包、膈神经；同侧同叶出现分离卫星肿瘤结节。</a:t>
            </a:r>
          </a:p>
          <a:p>
            <a:pPr>
              <a:spcAft>
                <a:spcPts val="200"/>
              </a:spcAft>
              <a:defRPr sz="1050" b="1">
                <a:solidFill>
                  <a:srgbClr val="1E293B"/>
                </a:solidFill>
                <a:latin typeface="Arial"/>
              </a:defRPr>
            </a:pPr>
            <a:r>
              <a:t>▶ T4 (&gt; 7 cm)</a:t>
            </a:r>
          </a:p>
          <a:p>
            <a:pPr>
              <a:spcAft>
                <a:spcPts val="800"/>
              </a:spcAft>
              <a:defRPr sz="950">
                <a:solidFill>
                  <a:srgbClr val="64748B"/>
                </a:solidFill>
                <a:latin typeface="Arial"/>
              </a:defRPr>
            </a:pPr>
            <a:r>
              <a:t>侵犯纵隔、心脏、大血管、隆突、气管、椎体；同侧不同叶结节。</a:t>
            </a:r>
          </a:p>
        </p:txBody>
      </p:sp>
      <p:sp>
        <p:nvSpPr>
          <p:cNvPr id="6" name="Rectangle 5"/>
          <p:cNvSpPr/>
          <p:nvPr/>
        </p:nvSpPr>
        <p:spPr>
          <a:xfrm>
            <a:off x="731520" y="1554480"/>
            <a:ext cx="3456432" cy="10972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370832" y="1554480"/>
            <a:ext cx="3456432"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spcAft>
                <a:spcPts val="1200"/>
              </a:spcAft>
              <a:defRPr sz="1300" b="1">
                <a:solidFill>
                  <a:srgbClr val="6366F1"/>
                </a:solidFill>
                <a:latin typeface="Arial"/>
              </a:defRPr>
            </a:pPr>
            <a:r>
              <a:t>N 区域淋巴结分期 (Node)</a:t>
            </a:r>
          </a:p>
          <a:p>
            <a:pPr>
              <a:spcAft>
                <a:spcPts val="200"/>
              </a:spcAft>
              <a:defRPr sz="1050" b="1">
                <a:solidFill>
                  <a:srgbClr val="1E293B"/>
                </a:solidFill>
                <a:latin typeface="Arial"/>
              </a:defRPr>
            </a:pPr>
            <a:r>
              <a:t>▶ N0</a:t>
            </a:r>
          </a:p>
          <a:p>
            <a:pPr>
              <a:spcAft>
                <a:spcPts val="800"/>
              </a:spcAft>
              <a:defRPr sz="950">
                <a:solidFill>
                  <a:srgbClr val="64748B"/>
                </a:solidFill>
                <a:latin typeface="Arial"/>
              </a:defRPr>
            </a:pPr>
            <a:r>
              <a:t>无区域淋巴结转移。</a:t>
            </a:r>
          </a:p>
          <a:p>
            <a:pPr>
              <a:spcAft>
                <a:spcPts val="200"/>
              </a:spcAft>
              <a:defRPr sz="1050" b="1">
                <a:solidFill>
                  <a:srgbClr val="1E293B"/>
                </a:solidFill>
                <a:latin typeface="Arial"/>
              </a:defRPr>
            </a:pPr>
            <a:r>
              <a:t>▶ N1</a:t>
            </a:r>
          </a:p>
          <a:p>
            <a:pPr>
              <a:spcAft>
                <a:spcPts val="800"/>
              </a:spcAft>
              <a:defRPr sz="950">
                <a:solidFill>
                  <a:srgbClr val="64748B"/>
                </a:solidFill>
                <a:latin typeface="Arial"/>
              </a:defRPr>
            </a:pPr>
            <a:r>
              <a:t>同侧肺门、支气管旁、肺内淋巴结转移。</a:t>
            </a:r>
          </a:p>
          <a:p>
            <a:pPr>
              <a:spcAft>
                <a:spcPts val="200"/>
              </a:spcAft>
              <a:defRPr sz="1050" b="1">
                <a:solidFill>
                  <a:srgbClr val="1E293B"/>
                </a:solidFill>
                <a:latin typeface="Arial"/>
              </a:defRPr>
            </a:pPr>
            <a:r>
              <a:t>▶ N2 (同侧纵隔/隆突下)</a:t>
            </a:r>
          </a:p>
          <a:p>
            <a:pPr>
              <a:spcAft>
                <a:spcPts val="800"/>
              </a:spcAft>
              <a:defRPr sz="950">
                <a:solidFill>
                  <a:srgbClr val="64748B"/>
                </a:solidFill>
                <a:latin typeface="Arial"/>
              </a:defRPr>
            </a:pPr>
            <a:r>
              <a:t>第9版细化：N2a (单站纵隔淋巴结转移，预后相对较好)；N2b (多站纵隔淋巴结转移，手术需极度审慎)。</a:t>
            </a:r>
          </a:p>
          <a:p>
            <a:pPr>
              <a:spcAft>
                <a:spcPts val="200"/>
              </a:spcAft>
              <a:defRPr sz="1050" b="1">
                <a:solidFill>
                  <a:srgbClr val="1E293B"/>
                </a:solidFill>
                <a:latin typeface="Arial"/>
              </a:defRPr>
            </a:pPr>
            <a:r>
              <a:t>▶ N3 (对侧/锁骨上)</a:t>
            </a:r>
          </a:p>
          <a:p>
            <a:pPr>
              <a:spcAft>
                <a:spcPts val="800"/>
              </a:spcAft>
              <a:defRPr sz="950">
                <a:solidFill>
                  <a:srgbClr val="64748B"/>
                </a:solidFill>
                <a:latin typeface="Arial"/>
              </a:defRPr>
            </a:pPr>
            <a:r>
              <a:t>对侧纵隔、对侧肺门、同侧或对侧斜角肌/锁骨上淋巴结转移（不可手术）。</a:t>
            </a:r>
          </a:p>
        </p:txBody>
      </p:sp>
      <p:sp>
        <p:nvSpPr>
          <p:cNvPr id="8" name="Rectangle 7"/>
          <p:cNvSpPr/>
          <p:nvPr/>
        </p:nvSpPr>
        <p:spPr>
          <a:xfrm>
            <a:off x="4370832" y="1554480"/>
            <a:ext cx="3456432" cy="10972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10144" y="1554480"/>
            <a:ext cx="3456432"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spcAft>
                <a:spcPts val="1200"/>
              </a:spcAft>
              <a:defRPr sz="1300" b="1">
                <a:solidFill>
                  <a:srgbClr val="F43F5E"/>
                </a:solidFill>
                <a:latin typeface="Arial"/>
              </a:defRPr>
            </a:pPr>
            <a:r>
              <a:t>M 远处转移分期 (Metastasis)</a:t>
            </a:r>
          </a:p>
          <a:p>
            <a:pPr>
              <a:spcAft>
                <a:spcPts val="200"/>
              </a:spcAft>
              <a:defRPr sz="1050" b="1">
                <a:solidFill>
                  <a:srgbClr val="1E293B"/>
                </a:solidFill>
                <a:latin typeface="Arial"/>
              </a:defRPr>
            </a:pPr>
            <a:r>
              <a:t>▶ M0</a:t>
            </a:r>
          </a:p>
          <a:p>
            <a:pPr>
              <a:spcAft>
                <a:spcPts val="800"/>
              </a:spcAft>
              <a:defRPr sz="950">
                <a:solidFill>
                  <a:srgbClr val="64748B"/>
                </a:solidFill>
                <a:latin typeface="Arial"/>
              </a:defRPr>
            </a:pPr>
            <a:r>
              <a:t>无远处转移。</a:t>
            </a:r>
          </a:p>
          <a:p>
            <a:pPr>
              <a:spcAft>
                <a:spcPts val="200"/>
              </a:spcAft>
              <a:defRPr sz="1050" b="1">
                <a:solidFill>
                  <a:srgbClr val="1E293B"/>
                </a:solidFill>
                <a:latin typeface="Arial"/>
              </a:defRPr>
            </a:pPr>
            <a:r>
              <a:t>▶ M1a (胸内弥漫)</a:t>
            </a:r>
          </a:p>
          <a:p>
            <a:pPr>
              <a:spcAft>
                <a:spcPts val="800"/>
              </a:spcAft>
              <a:defRPr sz="950">
                <a:solidFill>
                  <a:srgbClr val="64748B"/>
                </a:solidFill>
                <a:latin typeface="Arial"/>
              </a:defRPr>
            </a:pPr>
            <a:r>
              <a:t>胸膜播散、恶性胸腔/心包积液、对侧肺叶出现癌结节。</a:t>
            </a:r>
          </a:p>
          <a:p>
            <a:pPr>
              <a:spcAft>
                <a:spcPts val="200"/>
              </a:spcAft>
              <a:defRPr sz="1050" b="1">
                <a:solidFill>
                  <a:srgbClr val="1E293B"/>
                </a:solidFill>
                <a:latin typeface="Arial"/>
              </a:defRPr>
            </a:pPr>
            <a:r>
              <a:t>▶ M1b (单处寡转移)</a:t>
            </a:r>
          </a:p>
          <a:p>
            <a:pPr>
              <a:spcAft>
                <a:spcPts val="800"/>
              </a:spcAft>
              <a:defRPr sz="950">
                <a:solidFill>
                  <a:srgbClr val="64748B"/>
                </a:solidFill>
                <a:latin typeface="Arial"/>
              </a:defRPr>
            </a:pPr>
            <a:r>
              <a:t>单一器官的单一胸外远处转移灶（如孤立性脑转移、单侧单处肾上腺转移）。</a:t>
            </a:r>
          </a:p>
          <a:p>
            <a:pPr>
              <a:spcAft>
                <a:spcPts val="200"/>
              </a:spcAft>
              <a:defRPr sz="1050" b="1">
                <a:solidFill>
                  <a:srgbClr val="1E293B"/>
                </a:solidFill>
                <a:latin typeface="Arial"/>
              </a:defRPr>
            </a:pPr>
            <a:r>
              <a:t>▶ M1c (多发远处转移)</a:t>
            </a:r>
          </a:p>
          <a:p>
            <a:pPr>
              <a:spcAft>
                <a:spcPts val="800"/>
              </a:spcAft>
              <a:defRPr sz="950">
                <a:solidFill>
                  <a:srgbClr val="64748B"/>
                </a:solidFill>
                <a:latin typeface="Arial"/>
              </a:defRPr>
            </a:pPr>
            <a:r>
              <a:t>M1c1：单一器官系统内多发转移；M1c2：多个器官系统广泛多发转移。</a:t>
            </a:r>
          </a:p>
        </p:txBody>
      </p:sp>
      <p:sp>
        <p:nvSpPr>
          <p:cNvPr id="10" name="Rectangle 9"/>
          <p:cNvSpPr/>
          <p:nvPr/>
        </p:nvSpPr>
        <p:spPr>
          <a:xfrm>
            <a:off x="8010144" y="1554480"/>
            <a:ext cx="3456432" cy="109728"/>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0EA5E9"/>
                </a:solidFill>
                <a:latin typeface="Arial"/>
              </a:defRPr>
            </a:pPr>
            <a:r>
              <a:t>早期根治性治疗</a:t>
            </a:r>
          </a:p>
          <a:p>
            <a:pPr>
              <a:defRPr sz="2200" b="1">
                <a:solidFill>
                  <a:srgbClr val="1E293B"/>
                </a:solidFill>
                <a:latin typeface="Arial"/>
              </a:defRPr>
            </a:pPr>
            <a:r>
              <a:t>早期可切除 NSCLC（Stage I-II）手术切除规范与 SBRT 替代</a:t>
            </a:r>
          </a:p>
          <a:p>
            <a:pPr>
              <a:spcBef>
                <a:spcPts val="200"/>
              </a:spcBef>
              <a:defRPr sz="1100">
                <a:solidFill>
                  <a:srgbClr val="64748B"/>
                </a:solidFill>
                <a:latin typeface="Arial"/>
              </a:defRPr>
            </a:pPr>
            <a:r>
              <a:t>CALGB 140503与JCOG0802确立了周围型小肿瘤肺段切除的同等根治地位</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00">
                <a:solidFill>
                  <a:srgbClr val="94A3B8"/>
                </a:solidFill>
                <a:latin typeface="Arial"/>
              </a:defRPr>
            </a:pPr>
            <a:r>
              <a:t>2026年非小细胞肺癌（NSCLC）临床诊疗与前沿指南 | 循证源：PubMed / ClinicalTrials.gov                                                                Slide 8 / 22</a:t>
            </a:r>
          </a:p>
        </p:txBody>
      </p:sp>
      <p:sp>
        <p:nvSpPr>
          <p:cNvPr id="5" name="Rounded Rectangle 4"/>
          <p:cNvSpPr/>
          <p:nvPr/>
        </p:nvSpPr>
        <p:spPr>
          <a:xfrm>
            <a:off x="731520" y="1554480"/>
            <a:ext cx="521208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000"/>
              </a:spcAft>
              <a:defRPr sz="1400" b="1">
                <a:solidFill>
                  <a:srgbClr val="1E293B"/>
                </a:solidFill>
                <a:latin typeface="Arial"/>
              </a:defRPr>
            </a:pPr>
            <a:r>
              <a:t>解剖性手术切除规范与淋巴结清扫</a:t>
            </a:r>
          </a:p>
          <a:p>
            <a:pPr>
              <a:spcAft>
                <a:spcPts val="200"/>
              </a:spcAft>
              <a:defRPr sz="1100" b="1">
                <a:solidFill>
                  <a:srgbClr val="0EA5E9"/>
                </a:solidFill>
                <a:latin typeface="Arial"/>
              </a:defRPr>
            </a:pPr>
            <a:r>
              <a:t>■ 标准根治术式</a:t>
            </a:r>
          </a:p>
          <a:p>
            <a:pPr>
              <a:spcAft>
                <a:spcPts val="800"/>
              </a:spcAft>
              <a:defRPr sz="950">
                <a:solidFill>
                  <a:srgbClr val="64748B"/>
                </a:solidFill>
                <a:latin typeface="Arial"/>
              </a:defRPr>
            </a:pPr>
            <a:r>
              <a:t>解剖性肺叶切除术（Lobectomy）仍是大部分早期浸润性 NSCLC 的金标准术式，必须达到 R0 完全切除。微创胸腔镜（VATS）或机器人辅助（RATS）手术为首选入路。</a:t>
            </a:r>
          </a:p>
          <a:p>
            <a:pPr>
              <a:spcAft>
                <a:spcPts val="200"/>
              </a:spcAft>
              <a:defRPr sz="1100" b="1">
                <a:solidFill>
                  <a:srgbClr val="0EA5E9"/>
                </a:solidFill>
                <a:latin typeface="Arial"/>
              </a:defRPr>
            </a:pPr>
            <a:r>
              <a:t>■ 肺段切除术 (Segmentectomy) 适应证</a:t>
            </a:r>
          </a:p>
          <a:p>
            <a:pPr>
              <a:spcAft>
                <a:spcPts val="800"/>
              </a:spcAft>
              <a:defRPr sz="950">
                <a:solidFill>
                  <a:srgbClr val="64748B"/>
                </a:solidFill>
                <a:latin typeface="Arial"/>
              </a:defRPr>
            </a:pPr>
            <a:r>
              <a:t>根据 CALGB 140503 与 JCOG0802 试验，对于周围型、最大径 ≤ 2 cm 且放射学实性成分比值 CTR ≤ 0.5 的结节，解剖性肺段切除展现出与肺叶切除等同的 OS 与 DFS，同时更好保留肺功能。切缘距离须 ≥ 2 cm 或 ≥ 结节最大径。</a:t>
            </a:r>
          </a:p>
          <a:p>
            <a:pPr>
              <a:spcAft>
                <a:spcPts val="200"/>
              </a:spcAft>
              <a:defRPr sz="1100" b="1">
                <a:solidFill>
                  <a:srgbClr val="0EA5E9"/>
                </a:solidFill>
                <a:latin typeface="Arial"/>
              </a:defRPr>
            </a:pPr>
            <a:r>
              <a:t>■ 系统性淋巴结清扫 (SND) 原则</a:t>
            </a:r>
          </a:p>
          <a:p>
            <a:pPr>
              <a:spcAft>
                <a:spcPts val="800"/>
              </a:spcAft>
              <a:defRPr sz="950">
                <a:solidFill>
                  <a:srgbClr val="64748B"/>
                </a:solidFill>
                <a:latin typeface="Arial"/>
              </a:defRPr>
            </a:pPr>
            <a:r>
              <a:t>必须系统清扫至少 3 组纵隔淋巴结（且必须包括隆突下第 7 组）以及至少 3 组肺门/肺内淋巴结，总计清扫淋巴结总数建议 ≥ 6 组，以确保准确病理分期。</a:t>
            </a:r>
          </a:p>
          <a:p>
            <a:pPr>
              <a:spcAft>
                <a:spcPts val="200"/>
              </a:spcAft>
              <a:defRPr sz="1100" b="1">
                <a:solidFill>
                  <a:srgbClr val="0EA5E9"/>
                </a:solidFill>
                <a:latin typeface="Arial"/>
              </a:defRPr>
            </a:pPr>
            <a:r>
              <a:t>■ 病理高危复发因素评估</a:t>
            </a:r>
          </a:p>
          <a:p>
            <a:pPr>
              <a:spcAft>
                <a:spcPts val="800"/>
              </a:spcAft>
              <a:defRPr sz="950">
                <a:solidFill>
                  <a:srgbClr val="64748B"/>
                </a:solidFill>
                <a:latin typeface="Arial"/>
              </a:defRPr>
            </a:pPr>
            <a:r>
              <a:t>切除标本需常规评估：低分化、脉管/淋巴管侵犯(LVI)、脏层胸膜侵犯(VPI)、气腔播散(STAS)及复杂腺体亚型，以指导后续辅助治疗决策。</a:t>
            </a:r>
          </a:p>
        </p:txBody>
      </p:sp>
      <p:sp>
        <p:nvSpPr>
          <p:cNvPr id="6" name="Rounded Rectangle 5"/>
          <p:cNvSpPr/>
          <p:nvPr/>
        </p:nvSpPr>
        <p:spPr>
          <a:xfrm>
            <a:off x="6217920" y="1554480"/>
            <a:ext cx="521208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000"/>
              </a:spcAft>
              <a:defRPr sz="1400" b="1">
                <a:solidFill>
                  <a:srgbClr val="1E293B"/>
                </a:solidFill>
                <a:latin typeface="Arial"/>
              </a:defRPr>
            </a:pPr>
            <a:r>
              <a:t>不可手术早期患者：立体定向放疗（SBRT / SABR）</a:t>
            </a:r>
          </a:p>
          <a:p>
            <a:pPr>
              <a:spcAft>
                <a:spcPts val="200"/>
              </a:spcAft>
              <a:defRPr sz="1100" b="1">
                <a:solidFill>
                  <a:srgbClr val="14B8A6"/>
                </a:solidFill>
                <a:latin typeface="Arial"/>
              </a:defRPr>
            </a:pPr>
            <a:r>
              <a:t>▲ 适用人群</a:t>
            </a:r>
          </a:p>
          <a:p>
            <a:pPr>
              <a:spcAft>
                <a:spcPts val="800"/>
              </a:spcAft>
              <a:defRPr sz="950">
                <a:solidFill>
                  <a:srgbClr val="64748B"/>
                </a:solidFill>
                <a:latin typeface="Arial"/>
              </a:defRPr>
            </a:pPr>
            <a:r>
              <a:t>因高龄、严重心肺功能障碍、重度并发症无法耐受手术，或知情后拒绝外科手术的临床 I 期（T1-T2aN0M0）患者。</a:t>
            </a:r>
          </a:p>
          <a:p>
            <a:pPr>
              <a:spcAft>
                <a:spcPts val="200"/>
              </a:spcAft>
              <a:defRPr sz="1100" b="1">
                <a:solidFill>
                  <a:srgbClr val="14B8A6"/>
                </a:solidFill>
                <a:latin typeface="Arial"/>
              </a:defRPr>
            </a:pPr>
            <a:r>
              <a:t>▲ 生物有效剂量 (BED) 准则</a:t>
            </a:r>
          </a:p>
          <a:p>
            <a:pPr>
              <a:spcAft>
                <a:spcPts val="800"/>
              </a:spcAft>
              <a:defRPr sz="950">
                <a:solidFill>
                  <a:srgbClr val="64748B"/>
                </a:solidFill>
                <a:latin typeface="Arial"/>
              </a:defRPr>
            </a:pPr>
            <a:r>
              <a:t>根治性 SBRT 的生物有效剂量必须满足 BED ≥ 100 Gy₁₀（例如 48~60 Gy / 3~5 次分割；或 50 Gy / 4 次）。</a:t>
            </a:r>
          </a:p>
          <a:p>
            <a:pPr>
              <a:spcAft>
                <a:spcPts val="200"/>
              </a:spcAft>
              <a:defRPr sz="1100" b="1">
                <a:solidFill>
                  <a:srgbClr val="14B8A6"/>
                </a:solidFill>
                <a:latin typeface="Arial"/>
              </a:defRPr>
            </a:pPr>
            <a:r>
              <a:t>▲ 中心型病灶的风险管理</a:t>
            </a:r>
          </a:p>
          <a:p>
            <a:pPr>
              <a:spcAft>
                <a:spcPts val="800"/>
              </a:spcAft>
              <a:defRPr sz="950">
                <a:solidFill>
                  <a:srgbClr val="64748B"/>
                </a:solidFill>
                <a:latin typeface="Arial"/>
              </a:defRPr>
            </a:pPr>
            <a:r>
              <a:t>距离主支气管、隆突等纵隔危及器官（OAR）≤ 2 cm 的“近中心型”或“超中心型”病灶，为防止致命性大咯血或支气管坏死，推荐采用 8~10 次更为温和的风险自适应低分割放疗（如 60 Gy / 8 次 或 70 Gy / 10 次）。</a:t>
            </a:r>
          </a:p>
          <a:p>
            <a:pPr>
              <a:spcAft>
                <a:spcPts val="200"/>
              </a:spcAft>
              <a:defRPr sz="1100" b="1">
                <a:solidFill>
                  <a:srgbClr val="14B8A6"/>
                </a:solidFill>
                <a:latin typeface="Arial"/>
              </a:defRPr>
            </a:pPr>
            <a:r>
              <a:t>▲ 临床局部控制率</a:t>
            </a:r>
          </a:p>
          <a:p>
            <a:pPr>
              <a:spcAft>
                <a:spcPts val="800"/>
              </a:spcAft>
              <a:defRPr sz="950">
                <a:solidFill>
                  <a:srgbClr val="64748B"/>
                </a:solidFill>
                <a:latin typeface="Arial"/>
              </a:defRPr>
            </a:pPr>
            <a:r>
              <a:t>现代图像引导（IGRT）及呼吸门控（4D-CT）技术下，SBRT 治疗周围型早期肺癌的 3 年局部控制率可高达 90% 以上。</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0EA5E9"/>
                </a:solidFill>
                <a:latin typeface="Arial"/>
              </a:defRPr>
            </a:pPr>
            <a:r>
              <a:t>围手术期免疫综合治疗</a:t>
            </a:r>
          </a:p>
          <a:p>
            <a:pPr>
              <a:defRPr sz="2200" b="1">
                <a:solidFill>
                  <a:srgbClr val="1E293B"/>
                </a:solidFill>
                <a:latin typeface="Arial"/>
              </a:defRPr>
            </a:pPr>
            <a:r>
              <a:t>围手术期免疫治疗革命：新辅助与全程围手术期双轨标准</a:t>
            </a:r>
          </a:p>
          <a:p>
            <a:pPr>
              <a:spcBef>
                <a:spcPts val="200"/>
              </a:spcBef>
              <a:defRPr sz="1100">
                <a:solidFill>
                  <a:srgbClr val="64748B"/>
                </a:solidFill>
                <a:latin typeface="Arial"/>
              </a:defRPr>
            </a:pPr>
            <a:r>
              <a:t>CheckMate-816, KEYNOTE-671, AEGEAN, CheckMate-77T 彻底重写局晚可切除指南</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00">
                <a:solidFill>
                  <a:srgbClr val="94A3B8"/>
                </a:solidFill>
                <a:latin typeface="Arial"/>
              </a:defRPr>
            </a:pPr>
            <a:r>
              <a:t>2026年非小细胞肺癌（NSCLC）临床诊疗与前沿指南 | 循证源：PubMed / ClinicalTrials.gov                                                                Slide 9 / 22</a:t>
            </a:r>
          </a:p>
        </p:txBody>
      </p:sp>
      <p:sp>
        <p:nvSpPr>
          <p:cNvPr id="5" name="Rounded Rectangle 4"/>
          <p:cNvSpPr/>
          <p:nvPr/>
        </p:nvSpPr>
        <p:spPr>
          <a:xfrm>
            <a:off x="731520" y="1554480"/>
            <a:ext cx="2578608"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28600"/>
          <a:lstStyle/>
          <a:p>
            <a:pPr algn="ctr">
              <a:spcAft>
                <a:spcPts val="400"/>
              </a:spcAft>
              <a:defRPr sz="1200" b="1">
                <a:solidFill>
                  <a:srgbClr val="0EA5E9"/>
                </a:solidFill>
                <a:latin typeface="Arial"/>
              </a:defRPr>
            </a:pPr>
            <a:r>
              <a:t>CheckMate-816 (单纯新辅助)</a:t>
            </a:r>
          </a:p>
          <a:p>
            <a:pPr>
              <a:spcAft>
                <a:spcPts val="1000"/>
              </a:spcAft>
              <a:defRPr sz="950" b="1">
                <a:solidFill>
                  <a:srgbClr val="1E293B"/>
                </a:solidFill>
                <a:latin typeface="Arial"/>
              </a:defRPr>
            </a:pPr>
            <a:r>
              <a:t>方案：纳武利尤单抗 + 化疗 × 3周期 → 手术</a:t>
            </a:r>
          </a:p>
          <a:p>
            <a:pPr>
              <a:spcAft>
                <a:spcPts val="600"/>
              </a:spcAft>
              <a:defRPr sz="950">
                <a:solidFill>
                  <a:srgbClr val="64748B"/>
                </a:solidFill>
                <a:latin typeface="Arial"/>
              </a:defRPr>
            </a:pPr>
            <a:r>
              <a:t>• pCR (病理完全缓解率): 24.0% vs 2.2% (化疗对照)</a:t>
            </a:r>
          </a:p>
          <a:p>
            <a:pPr>
              <a:spcAft>
                <a:spcPts val="600"/>
              </a:spcAft>
              <a:defRPr sz="950">
                <a:solidFill>
                  <a:srgbClr val="64748B"/>
                </a:solidFill>
                <a:latin typeface="Arial"/>
              </a:defRPr>
            </a:pPr>
            <a:r>
              <a:t>• MPR (主要病理缓解): 36.9% vs 8.9%</a:t>
            </a:r>
          </a:p>
          <a:p>
            <a:pPr>
              <a:spcAft>
                <a:spcPts val="600"/>
              </a:spcAft>
              <a:defRPr sz="950">
                <a:solidFill>
                  <a:srgbClr val="64748B"/>
                </a:solidFill>
                <a:latin typeface="Arial"/>
              </a:defRPr>
            </a:pPr>
            <a:r>
              <a:t>• 2025 NEJM 最新5年OS随访显示显著长期生存获益</a:t>
            </a:r>
          </a:p>
          <a:p>
            <a:pPr>
              <a:spcAft>
                <a:spcPts val="600"/>
              </a:spcAft>
              <a:defRPr sz="950">
                <a:solidFill>
                  <a:srgbClr val="64748B"/>
                </a:solidFill>
                <a:latin typeface="Arial"/>
              </a:defRPr>
            </a:pPr>
            <a:r>
              <a:t>• 优势：周期短（仅3周期），不影响手术切除率与安全性</a:t>
            </a:r>
          </a:p>
        </p:txBody>
      </p:sp>
      <p:sp>
        <p:nvSpPr>
          <p:cNvPr id="6" name="Rectangle 5"/>
          <p:cNvSpPr/>
          <p:nvPr/>
        </p:nvSpPr>
        <p:spPr>
          <a:xfrm>
            <a:off x="731520" y="1554480"/>
            <a:ext cx="2578608" cy="10972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456432" y="1554480"/>
            <a:ext cx="2578608"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28600"/>
          <a:lstStyle/>
          <a:p>
            <a:pPr algn="ctr">
              <a:spcAft>
                <a:spcPts val="400"/>
              </a:spcAft>
              <a:defRPr sz="1200" b="1">
                <a:solidFill>
                  <a:srgbClr val="6366F1"/>
                </a:solidFill>
                <a:latin typeface="Arial"/>
              </a:defRPr>
            </a:pPr>
            <a:r>
              <a:t>KEYNOTE-671 (三明治围术期)</a:t>
            </a:r>
          </a:p>
          <a:p>
            <a:pPr>
              <a:spcAft>
                <a:spcPts val="1000"/>
              </a:spcAft>
              <a:defRPr sz="950" b="1">
                <a:solidFill>
                  <a:srgbClr val="1E293B"/>
                </a:solidFill>
                <a:latin typeface="Arial"/>
              </a:defRPr>
            </a:pPr>
            <a:r>
              <a:t>方案：新辅助 Pembro+化疗 × 4 → 手术 → 辅助维持 13周期</a:t>
            </a:r>
          </a:p>
          <a:p>
            <a:pPr>
              <a:spcAft>
                <a:spcPts val="600"/>
              </a:spcAft>
              <a:defRPr sz="950">
                <a:solidFill>
                  <a:srgbClr val="64748B"/>
                </a:solidFill>
                <a:latin typeface="Arial"/>
              </a:defRPr>
            </a:pPr>
            <a:r>
              <a:t>• 唯一在单项随机 III 期中达成 EFS 与 OS 双阳性获益的研究</a:t>
            </a:r>
          </a:p>
          <a:p>
            <a:pPr>
              <a:spcAft>
                <a:spcPts val="600"/>
              </a:spcAft>
              <a:defRPr sz="950">
                <a:solidFill>
                  <a:srgbClr val="64748B"/>
                </a:solidFill>
                <a:latin typeface="Arial"/>
              </a:defRPr>
            </a:pPr>
            <a:r>
              <a:t>• 24个月 EFS 率 62.4% vs 40.6% (HR=0.58)</a:t>
            </a:r>
          </a:p>
          <a:p>
            <a:pPr>
              <a:spcAft>
                <a:spcPts val="600"/>
              </a:spcAft>
              <a:defRPr sz="950">
                <a:solidFill>
                  <a:srgbClr val="64748B"/>
                </a:solidFill>
                <a:latin typeface="Arial"/>
              </a:defRPr>
            </a:pPr>
            <a:r>
              <a:t>• 显著降低 28% 的死亡风险 (OS HR=0.72)</a:t>
            </a:r>
          </a:p>
          <a:p>
            <a:pPr>
              <a:spcAft>
                <a:spcPts val="600"/>
              </a:spcAft>
              <a:defRPr sz="950">
                <a:solidFill>
                  <a:srgbClr val="64748B"/>
                </a:solidFill>
                <a:latin typeface="Arial"/>
              </a:defRPr>
            </a:pPr>
            <a:r>
              <a:t>• 已成为可切除 II-IIIB 期全球标准围术期方案之一</a:t>
            </a:r>
          </a:p>
        </p:txBody>
      </p:sp>
      <p:sp>
        <p:nvSpPr>
          <p:cNvPr id="8" name="Rectangle 7"/>
          <p:cNvSpPr/>
          <p:nvPr/>
        </p:nvSpPr>
        <p:spPr>
          <a:xfrm>
            <a:off x="3456432" y="1554480"/>
            <a:ext cx="2578608" cy="10972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81344" y="1554480"/>
            <a:ext cx="2578608"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28600"/>
          <a:lstStyle/>
          <a:p>
            <a:pPr algn="ctr">
              <a:spcAft>
                <a:spcPts val="400"/>
              </a:spcAft>
              <a:defRPr sz="1200" b="1">
                <a:solidFill>
                  <a:srgbClr val="14B8A6"/>
                </a:solidFill>
                <a:latin typeface="Arial"/>
              </a:defRPr>
            </a:pPr>
            <a:r>
              <a:t>AEGEAN (三明治围术期)</a:t>
            </a:r>
          </a:p>
          <a:p>
            <a:pPr>
              <a:spcAft>
                <a:spcPts val="1000"/>
              </a:spcAft>
              <a:defRPr sz="950" b="1">
                <a:solidFill>
                  <a:srgbClr val="1E293B"/>
                </a:solidFill>
                <a:latin typeface="Arial"/>
              </a:defRPr>
            </a:pPr>
            <a:r>
              <a:t>方案：新辅助 度伐利尤+化疗 × 4 → 手术 → 辅助维持 12周期</a:t>
            </a:r>
          </a:p>
          <a:p>
            <a:pPr>
              <a:spcAft>
                <a:spcPts val="600"/>
              </a:spcAft>
              <a:defRPr sz="950">
                <a:solidFill>
                  <a:srgbClr val="64748B"/>
                </a:solidFill>
                <a:latin typeface="Arial"/>
              </a:defRPr>
            </a:pPr>
            <a:r>
              <a:t>• pCR 率显著提高：17.2% vs 4.3% (P &lt; 0.001)</a:t>
            </a:r>
          </a:p>
          <a:p>
            <a:pPr>
              <a:spcAft>
                <a:spcPts val="600"/>
              </a:spcAft>
              <a:defRPr sz="950">
                <a:solidFill>
                  <a:srgbClr val="64748B"/>
                </a:solidFill>
                <a:latin typeface="Arial"/>
              </a:defRPr>
            </a:pPr>
            <a:r>
              <a:t>• 中位 EFS 尚未达到 vs 对照组 25.9个月 (HR=0.68)</a:t>
            </a:r>
          </a:p>
          <a:p>
            <a:pPr>
              <a:spcAft>
                <a:spcPts val="600"/>
              </a:spcAft>
              <a:defRPr sz="950">
                <a:solidFill>
                  <a:srgbClr val="64748B"/>
                </a:solidFill>
                <a:latin typeface="Arial"/>
              </a:defRPr>
            </a:pPr>
            <a:r>
              <a:t>• 未增加非预期手术延迟或围手术期死亡率</a:t>
            </a:r>
          </a:p>
          <a:p>
            <a:pPr>
              <a:spcAft>
                <a:spcPts val="600"/>
              </a:spcAft>
              <a:defRPr sz="950">
                <a:solidFill>
                  <a:srgbClr val="64748B"/>
                </a:solidFill>
                <a:latin typeface="Arial"/>
              </a:defRPr>
            </a:pPr>
            <a:r>
              <a:t>• 覆盖广泛 IIA-IIIB(N2) 可切除人群</a:t>
            </a:r>
          </a:p>
        </p:txBody>
      </p:sp>
      <p:sp>
        <p:nvSpPr>
          <p:cNvPr id="10" name="Rectangle 9"/>
          <p:cNvSpPr/>
          <p:nvPr/>
        </p:nvSpPr>
        <p:spPr>
          <a:xfrm>
            <a:off x="6181344" y="1554480"/>
            <a:ext cx="2578608"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906256" y="1554480"/>
            <a:ext cx="2578608"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28600"/>
          <a:lstStyle/>
          <a:p>
            <a:pPr algn="ctr">
              <a:spcAft>
                <a:spcPts val="400"/>
              </a:spcAft>
              <a:defRPr sz="1200" b="1">
                <a:solidFill>
                  <a:srgbClr val="F43F5E"/>
                </a:solidFill>
                <a:latin typeface="Arial"/>
              </a:defRPr>
            </a:pPr>
            <a:r>
              <a:t>CheckMate-77T &amp; 国产前沿</a:t>
            </a:r>
          </a:p>
          <a:p>
            <a:pPr>
              <a:spcAft>
                <a:spcPts val="1000"/>
              </a:spcAft>
              <a:defRPr sz="950" b="1">
                <a:solidFill>
                  <a:srgbClr val="1E293B"/>
                </a:solidFill>
                <a:latin typeface="Arial"/>
              </a:defRPr>
            </a:pPr>
            <a:r>
              <a:t>方案：新辅助 Nivo+化疗 × 4 → 手术 → 辅助 Nivo 维持 1年</a:t>
            </a:r>
          </a:p>
          <a:p>
            <a:pPr>
              <a:spcAft>
                <a:spcPts val="600"/>
              </a:spcAft>
              <a:defRPr sz="950">
                <a:solidFill>
                  <a:srgbClr val="64748B"/>
                </a:solidFill>
                <a:latin typeface="Arial"/>
              </a:defRPr>
            </a:pPr>
            <a:r>
              <a:t>• CM-77T: EFS HR=0.58; pCR 达 25.3% vs 4.7%</a:t>
            </a:r>
          </a:p>
          <a:p>
            <a:pPr>
              <a:spcAft>
                <a:spcPts val="600"/>
              </a:spcAft>
              <a:defRPr sz="950">
                <a:solidFill>
                  <a:srgbClr val="64748B"/>
                </a:solidFill>
                <a:latin typeface="Arial"/>
              </a:defRPr>
            </a:pPr>
            <a:r>
              <a:t>• RATIONALE-315 (替雷利珠单抗围术期): MPR达56.2%</a:t>
            </a:r>
          </a:p>
          <a:p>
            <a:pPr>
              <a:spcAft>
                <a:spcPts val="600"/>
              </a:spcAft>
              <a:defRPr sz="950">
                <a:solidFill>
                  <a:srgbClr val="64748B"/>
                </a:solidFill>
                <a:latin typeface="Arial"/>
              </a:defRPr>
            </a:pPr>
            <a:r>
              <a:t>• Neotorch (特瑞普利单抗围术期): 显著改善可切除EFS</a:t>
            </a:r>
          </a:p>
          <a:p>
            <a:pPr>
              <a:spcAft>
                <a:spcPts val="600"/>
              </a:spcAft>
              <a:defRPr sz="950">
                <a:solidFill>
                  <a:srgbClr val="64748B"/>
                </a:solidFill>
                <a:latin typeface="Arial"/>
              </a:defRPr>
            </a:pPr>
            <a:r>
              <a:t>• 严格禁忌：EGFR/ALK 突变阳性人群不推荐新辅助免疫！</a:t>
            </a:r>
          </a:p>
        </p:txBody>
      </p:sp>
      <p:sp>
        <p:nvSpPr>
          <p:cNvPr id="12" name="Rectangle 11"/>
          <p:cNvSpPr/>
          <p:nvPr/>
        </p:nvSpPr>
        <p:spPr>
          <a:xfrm>
            <a:off x="8906256" y="1554480"/>
            <a:ext cx="2578608" cy="109728"/>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0EA5E9"/>
                </a:solidFill>
                <a:latin typeface="Arial"/>
              </a:defRPr>
            </a:pPr>
            <a:r>
              <a:t>术后辅助靶向治疗</a:t>
            </a:r>
          </a:p>
          <a:p>
            <a:pPr>
              <a:defRPr sz="2200" b="1">
                <a:solidFill>
                  <a:srgbClr val="1E293B"/>
                </a:solidFill>
                <a:latin typeface="Arial"/>
              </a:defRPr>
            </a:pPr>
            <a:r>
              <a:t>驱动基因阳性早期术后辅助靶向：ADAURA 与 ALINA 循证典范</a:t>
            </a:r>
          </a:p>
          <a:p>
            <a:pPr>
              <a:spcBef>
                <a:spcPts val="200"/>
              </a:spcBef>
              <a:defRPr sz="1100">
                <a:solidFill>
                  <a:srgbClr val="64748B"/>
                </a:solidFill>
                <a:latin typeface="Arial"/>
              </a:defRPr>
            </a:pPr>
            <a:r>
              <a:t>靶向辅助治疗使术后复发风险大幅降低76%~80%，并显著压制中枢神经系统转移</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00">
                <a:solidFill>
                  <a:srgbClr val="94A3B8"/>
                </a:solidFill>
                <a:latin typeface="Arial"/>
              </a:defRPr>
            </a:pPr>
            <a:r>
              <a:t>2026年非小细胞肺癌（NSCLC）临床诊疗与前沿指南 | 循证源：PubMed / ClinicalTrials.gov                                                                Slide 10 / 22</a:t>
            </a:r>
          </a:p>
        </p:txBody>
      </p:sp>
      <p:sp>
        <p:nvSpPr>
          <p:cNvPr id="5" name="Rounded Rectangle 4"/>
          <p:cNvSpPr/>
          <p:nvPr/>
        </p:nvSpPr>
        <p:spPr>
          <a:xfrm>
            <a:off x="731520" y="1554480"/>
            <a:ext cx="521208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000"/>
              </a:spcAft>
              <a:defRPr sz="1300" b="1">
                <a:solidFill>
                  <a:srgbClr val="0EA5E9"/>
                </a:solidFill>
                <a:latin typeface="Arial"/>
              </a:defRPr>
            </a:pPr>
            <a:r>
              <a:t>ADAURA 研究：EGFR 突变术后奥希替尼辅助治疗</a:t>
            </a:r>
          </a:p>
          <a:p>
            <a:pPr>
              <a:spcAft>
                <a:spcPts val="200"/>
              </a:spcAft>
              <a:defRPr sz="1050" b="1">
                <a:solidFill>
                  <a:srgbClr val="1E293B"/>
                </a:solidFill>
                <a:latin typeface="Arial"/>
              </a:defRPr>
            </a:pPr>
            <a:r>
              <a:t>★ 适应证人群</a:t>
            </a:r>
          </a:p>
          <a:p>
            <a:pPr>
              <a:spcAft>
                <a:spcPts val="600"/>
              </a:spcAft>
              <a:defRPr sz="950">
                <a:solidFill>
                  <a:srgbClr val="64748B"/>
                </a:solidFill>
                <a:latin typeface="Arial"/>
              </a:defRPr>
            </a:pPr>
            <a:r>
              <a:t>完全切除术后（R0）且伴 EGFR 敏感突变（19del / L858R）的 IB ~ IIIA 期（AJCC第7版）/ IIA ~ IIIB 期患者。</a:t>
            </a:r>
          </a:p>
          <a:p>
            <a:pPr>
              <a:spcAft>
                <a:spcPts val="200"/>
              </a:spcAft>
              <a:defRPr sz="1050" b="1">
                <a:solidFill>
                  <a:srgbClr val="1E293B"/>
                </a:solidFill>
                <a:latin typeface="Arial"/>
              </a:defRPr>
            </a:pPr>
            <a:r>
              <a:t>★ 给药方案与疗程</a:t>
            </a:r>
          </a:p>
          <a:p>
            <a:pPr>
              <a:spcAft>
                <a:spcPts val="600"/>
              </a:spcAft>
              <a:defRPr sz="950">
                <a:solidFill>
                  <a:srgbClr val="64748B"/>
                </a:solidFill>
                <a:latin typeface="Arial"/>
              </a:defRPr>
            </a:pPr>
            <a:r>
              <a:t>奥希替尼 80 mg 口服 QD，推荐持续治疗 3 年（或直至疾病复发或出现不可耐受毒性）。</a:t>
            </a:r>
          </a:p>
          <a:p>
            <a:pPr>
              <a:spcAft>
                <a:spcPts val="200"/>
              </a:spcAft>
              <a:defRPr sz="1050" b="1">
                <a:solidFill>
                  <a:srgbClr val="1E293B"/>
                </a:solidFill>
                <a:latin typeface="Arial"/>
              </a:defRPr>
            </a:pPr>
            <a:r>
              <a:t>★ 无病生存期 (DFS) 获益</a:t>
            </a:r>
          </a:p>
          <a:p>
            <a:pPr>
              <a:spcAft>
                <a:spcPts val="600"/>
              </a:spcAft>
              <a:defRPr sz="950">
                <a:solidFill>
                  <a:srgbClr val="64748B"/>
                </a:solidFill>
                <a:latin typeface="Arial"/>
              </a:defRPr>
            </a:pPr>
            <a:r>
              <a:t>II-IIIA 期患者 5 年 DFS 率达到 65%（安慰剂组仅 19%），降低 77% 的疾病复发或死亡风险 (HR = 0.23, 95% CI 0.18-0.30)。</a:t>
            </a:r>
          </a:p>
          <a:p>
            <a:pPr>
              <a:spcAft>
                <a:spcPts val="200"/>
              </a:spcAft>
              <a:defRPr sz="1050" b="1">
                <a:solidFill>
                  <a:srgbClr val="1E293B"/>
                </a:solidFill>
                <a:latin typeface="Arial"/>
              </a:defRPr>
            </a:pPr>
            <a:r>
              <a:t>★ 中枢神经系统 (CNS) 保护</a:t>
            </a:r>
          </a:p>
          <a:p>
            <a:pPr>
              <a:spcAft>
                <a:spcPts val="600"/>
              </a:spcAft>
              <a:defRPr sz="950">
                <a:solidFill>
                  <a:srgbClr val="64748B"/>
                </a:solidFill>
                <a:latin typeface="Arial"/>
              </a:defRPr>
            </a:pPr>
            <a:r>
              <a:t>CNS 疾病复发或死亡风险惊人降低 88% (HR = 0.12)，强力阻断脑转移发生。</a:t>
            </a:r>
          </a:p>
          <a:p>
            <a:pPr>
              <a:spcAft>
                <a:spcPts val="200"/>
              </a:spcAft>
              <a:defRPr sz="1050" b="1">
                <a:solidFill>
                  <a:srgbClr val="1E293B"/>
                </a:solidFill>
                <a:latin typeface="Arial"/>
              </a:defRPr>
            </a:pPr>
            <a:r>
              <a:t>★ 总生存期 (OS) 统计学显著改善</a:t>
            </a:r>
          </a:p>
          <a:p>
            <a:pPr>
              <a:spcAft>
                <a:spcPts val="600"/>
              </a:spcAft>
              <a:defRPr sz="950">
                <a:solidFill>
                  <a:srgbClr val="64748B"/>
                </a:solidFill>
                <a:latin typeface="Arial"/>
              </a:defRPr>
            </a:pPr>
            <a:r>
              <a:t>5 年 OS 率达 88% vs 78% (HR = 0.49, P = 0.0004)，确立了靶向辅助治疗对延长患者生存的终极价值。</a:t>
            </a:r>
          </a:p>
        </p:txBody>
      </p:sp>
      <p:sp>
        <p:nvSpPr>
          <p:cNvPr id="6" name="Rounded Rectangle 5"/>
          <p:cNvSpPr/>
          <p:nvPr/>
        </p:nvSpPr>
        <p:spPr>
          <a:xfrm>
            <a:off x="6217920" y="1554480"/>
            <a:ext cx="521208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000"/>
              </a:spcAft>
              <a:defRPr sz="1300" b="1">
                <a:solidFill>
                  <a:srgbClr val="10B981"/>
                </a:solidFill>
                <a:latin typeface="Arial"/>
              </a:defRPr>
            </a:pPr>
            <a:r>
              <a:t>ALINA 研究：ALK 阳性术后阿来替尼辅助治疗 (NEJM 2024)</a:t>
            </a:r>
          </a:p>
          <a:p>
            <a:pPr>
              <a:spcAft>
                <a:spcPts val="200"/>
              </a:spcAft>
              <a:defRPr sz="1050" b="1">
                <a:solidFill>
                  <a:srgbClr val="1E293B"/>
                </a:solidFill>
                <a:latin typeface="Arial"/>
              </a:defRPr>
            </a:pPr>
            <a:r>
              <a:t>✔ 适应证人群</a:t>
            </a:r>
          </a:p>
          <a:p>
            <a:pPr>
              <a:spcAft>
                <a:spcPts val="600"/>
              </a:spcAft>
              <a:defRPr sz="950">
                <a:solidFill>
                  <a:srgbClr val="64748B"/>
                </a:solidFill>
                <a:latin typeface="Arial"/>
              </a:defRPr>
            </a:pPr>
            <a:r>
              <a:t>完全切除术后的 ALK 阳性 IB（≥4cm）~ IIIA 期 NSCLC 患者。</a:t>
            </a:r>
          </a:p>
          <a:p>
            <a:pPr>
              <a:spcAft>
                <a:spcPts val="200"/>
              </a:spcAft>
              <a:defRPr sz="1050" b="1">
                <a:solidFill>
                  <a:srgbClr val="1E293B"/>
                </a:solidFill>
                <a:latin typeface="Arial"/>
              </a:defRPr>
            </a:pPr>
            <a:r>
              <a:t>✔ 给药方案与疗程</a:t>
            </a:r>
          </a:p>
          <a:p>
            <a:pPr>
              <a:spcAft>
                <a:spcPts val="600"/>
              </a:spcAft>
              <a:defRPr sz="950">
                <a:solidFill>
                  <a:srgbClr val="64748B"/>
                </a:solidFill>
                <a:latin typeface="Arial"/>
              </a:defRPr>
            </a:pPr>
            <a:r>
              <a:t>阿来替尼 600 mg 口服 BID，连续辅助用药 2 年，头对头对比标准含铂双药化疗。</a:t>
            </a:r>
          </a:p>
          <a:p>
            <a:pPr>
              <a:spcAft>
                <a:spcPts val="200"/>
              </a:spcAft>
              <a:defRPr sz="1050" b="1">
                <a:solidFill>
                  <a:srgbClr val="1E293B"/>
                </a:solidFill>
                <a:latin typeface="Arial"/>
              </a:defRPr>
            </a:pPr>
            <a:r>
              <a:t>✔ 突破性 DFS 优势</a:t>
            </a:r>
          </a:p>
          <a:p>
            <a:pPr>
              <a:spcAft>
                <a:spcPts val="600"/>
              </a:spcAft>
              <a:defRPr sz="950">
                <a:solidFill>
                  <a:srgbClr val="64748B"/>
                </a:solidFill>
                <a:latin typeface="Arial"/>
              </a:defRPr>
            </a:pPr>
            <a:r>
              <a:t>2 年 DFS 率高达 93.8%（化疗对照组仅 63.0%），复发或死亡风险大幅降低 76% (HR = 0.24, 95% CI 0.13-0.45, P &lt; 0.001)！</a:t>
            </a:r>
          </a:p>
          <a:p>
            <a:pPr>
              <a:spcAft>
                <a:spcPts val="200"/>
              </a:spcAft>
              <a:defRPr sz="1050" b="1">
                <a:solidFill>
                  <a:srgbClr val="1E293B"/>
                </a:solidFill>
                <a:latin typeface="Arial"/>
              </a:defRPr>
            </a:pPr>
            <a:r>
              <a:t>✔ 脑转移防控</a:t>
            </a:r>
          </a:p>
          <a:p>
            <a:pPr>
              <a:spcAft>
                <a:spcPts val="600"/>
              </a:spcAft>
              <a:defRPr sz="950">
                <a:solidFill>
                  <a:srgbClr val="64748B"/>
                </a:solidFill>
                <a:latin typeface="Arial"/>
              </a:defRPr>
            </a:pPr>
            <a:r>
              <a:t>同样展现出强大的 CNS 保护作用，中位随访期间阿来替尼组极少发生脑转移事件。</a:t>
            </a:r>
          </a:p>
          <a:p>
            <a:pPr>
              <a:spcAft>
                <a:spcPts val="200"/>
              </a:spcAft>
              <a:defRPr sz="1050" b="1">
                <a:solidFill>
                  <a:srgbClr val="1E293B"/>
                </a:solidFill>
                <a:latin typeface="Arial"/>
              </a:defRPr>
            </a:pPr>
            <a:r>
              <a:t>✔ 临床指南改写</a:t>
            </a:r>
          </a:p>
          <a:p>
            <a:pPr>
              <a:spcAft>
                <a:spcPts val="600"/>
              </a:spcAft>
              <a:defRPr sz="950">
                <a:solidFill>
                  <a:srgbClr val="64748B"/>
                </a:solidFill>
                <a:latin typeface="Arial"/>
              </a:defRPr>
            </a:pPr>
            <a:r>
              <a:t>彻底奠定了 ALK 阳性肺癌术后“以靶向取代传统辅助化疗”的全新临床实践标准。</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0EA5E9"/>
                </a:solidFill>
                <a:latin typeface="Arial"/>
              </a:defRPr>
            </a:pPr>
            <a:r>
              <a:t>局部晚期不可切除</a:t>
            </a:r>
          </a:p>
          <a:p>
            <a:pPr>
              <a:defRPr sz="2200" b="1">
                <a:solidFill>
                  <a:srgbClr val="1E293B"/>
                </a:solidFill>
                <a:latin typeface="Arial"/>
              </a:defRPr>
            </a:pPr>
            <a:r>
              <a:t>不可切除 III 期综合治疗：PACIFIC 免疫巩固与 LAURA 靶向巩固</a:t>
            </a:r>
          </a:p>
          <a:p>
            <a:pPr>
              <a:spcBef>
                <a:spcPts val="200"/>
              </a:spcBef>
              <a:defRPr sz="1100">
                <a:solidFill>
                  <a:srgbClr val="64748B"/>
                </a:solidFill>
                <a:latin typeface="Arial"/>
              </a:defRPr>
            </a:pPr>
            <a:r>
              <a:t>放化疗后根据驱动基因状态实施分流：阴性选度伐利尤单抗，EGFR突变选奥希替尼</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00">
                <a:solidFill>
                  <a:srgbClr val="94A3B8"/>
                </a:solidFill>
                <a:latin typeface="Arial"/>
              </a:defRPr>
            </a:pPr>
            <a:r>
              <a:t>2026年非小细胞肺癌（NSCLC）临床诊疗与前沿指南 | 循证源：PubMed / ClinicalTrials.gov                                                                Slide 11 / 22</a:t>
            </a:r>
          </a:p>
        </p:txBody>
      </p:sp>
      <p:sp>
        <p:nvSpPr>
          <p:cNvPr id="5" name="Rounded Rectangle 4"/>
          <p:cNvSpPr/>
          <p:nvPr/>
        </p:nvSpPr>
        <p:spPr>
          <a:xfrm>
            <a:off x="731520" y="1554480"/>
            <a:ext cx="521208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000"/>
              </a:spcAft>
              <a:defRPr sz="1300" b="1">
                <a:solidFill>
                  <a:srgbClr val="0EA5E9"/>
                </a:solidFill>
                <a:latin typeface="Arial"/>
              </a:defRPr>
            </a:pPr>
            <a:r>
              <a:t>PACIFIC 模式：驱动基因阴性放化疗后免疫巩固</a:t>
            </a:r>
          </a:p>
          <a:p>
            <a:pPr>
              <a:spcAft>
                <a:spcPts val="200"/>
              </a:spcAft>
              <a:defRPr sz="1050" b="1">
                <a:solidFill>
                  <a:srgbClr val="1E293B"/>
                </a:solidFill>
                <a:latin typeface="Arial"/>
              </a:defRPr>
            </a:pPr>
            <a:r>
              <a:t>■ 标准基石放化疗 (cCRT)</a:t>
            </a:r>
          </a:p>
          <a:p>
            <a:pPr>
              <a:spcAft>
                <a:spcPts val="600"/>
              </a:spcAft>
              <a:defRPr sz="950">
                <a:solidFill>
                  <a:srgbClr val="64748B"/>
                </a:solidFill>
                <a:latin typeface="Arial"/>
              </a:defRPr>
            </a:pPr>
            <a:r>
              <a:t>同步放化疗：调强放疗 (IMRT) 60~66 Gy + 顺铂/依托泊苷 或 卡铂/紫杉醇同步化疗。必须严控肺受照剂量（V20 &lt; 30%, 肺平均剂量 MLD &lt; 20 Gy）。</a:t>
            </a:r>
          </a:p>
          <a:p>
            <a:pPr>
              <a:spcAft>
                <a:spcPts val="200"/>
              </a:spcAft>
              <a:defRPr sz="1050" b="1">
                <a:solidFill>
                  <a:srgbClr val="1E293B"/>
                </a:solidFill>
                <a:latin typeface="Arial"/>
              </a:defRPr>
            </a:pPr>
            <a:r>
              <a:t>■ 免疫巩固给药</a:t>
            </a:r>
          </a:p>
          <a:p>
            <a:pPr>
              <a:spcAft>
                <a:spcPts val="600"/>
              </a:spcAft>
              <a:defRPr sz="950">
                <a:solidFill>
                  <a:srgbClr val="64748B"/>
                </a:solidFill>
                <a:latin typeface="Arial"/>
              </a:defRPr>
            </a:pPr>
            <a:r>
              <a:t>cCRT 结束后 1~42 天内若无疾病进展，启动度伐利尤单抗 (Durvalumab 10 mg/kg Q2W 或 1500 mg Q4W) 维持最长 12 个月。</a:t>
            </a:r>
          </a:p>
          <a:p>
            <a:pPr>
              <a:spcAft>
                <a:spcPts val="200"/>
              </a:spcAft>
              <a:defRPr sz="1050" b="1">
                <a:solidFill>
                  <a:srgbClr val="1E293B"/>
                </a:solidFill>
                <a:latin typeface="Arial"/>
              </a:defRPr>
            </a:pPr>
            <a:r>
              <a:t>■ 5年长期生存获益</a:t>
            </a:r>
          </a:p>
          <a:p>
            <a:pPr>
              <a:spcAft>
                <a:spcPts val="600"/>
              </a:spcAft>
              <a:defRPr sz="950">
                <a:solidFill>
                  <a:srgbClr val="64748B"/>
                </a:solidFill>
                <a:latin typeface="Arial"/>
              </a:defRPr>
            </a:pPr>
            <a:r>
              <a:t>5 年 OS 率达 42.9%（安慰剂组 33.4%），中位 OS 47.5 个月 vs 29.1 个月 (HR = 0.72)，使 1/3 以上不可切除患者迈入“临床治愈”。</a:t>
            </a:r>
          </a:p>
          <a:p>
            <a:pPr>
              <a:spcAft>
                <a:spcPts val="200"/>
              </a:spcAft>
              <a:defRPr sz="1050" b="1">
                <a:solidFill>
                  <a:srgbClr val="1E293B"/>
                </a:solidFill>
                <a:latin typeface="Arial"/>
              </a:defRPr>
            </a:pPr>
            <a:r>
              <a:t>■ 毒性警惕</a:t>
            </a:r>
          </a:p>
          <a:p>
            <a:pPr>
              <a:spcAft>
                <a:spcPts val="600"/>
              </a:spcAft>
              <a:defRPr sz="950">
                <a:solidFill>
                  <a:srgbClr val="64748B"/>
                </a:solidFill>
                <a:latin typeface="Arial"/>
              </a:defRPr>
            </a:pPr>
            <a:r>
              <a:t>重点监测放射性肺炎叠加免疫性肺炎，发生 ≥ 2 级严重肺炎需永久停药并足量激素冲击。</a:t>
            </a:r>
          </a:p>
        </p:txBody>
      </p:sp>
      <p:sp>
        <p:nvSpPr>
          <p:cNvPr id="6" name="Rounded Rectangle 5"/>
          <p:cNvSpPr/>
          <p:nvPr/>
        </p:nvSpPr>
        <p:spPr>
          <a:xfrm>
            <a:off x="6217920" y="1554480"/>
            <a:ext cx="521208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000"/>
              </a:spcAft>
              <a:defRPr sz="1300" b="1">
                <a:solidFill>
                  <a:srgbClr val="F43F5E"/>
                </a:solidFill>
                <a:latin typeface="Arial"/>
              </a:defRPr>
            </a:pPr>
            <a:r>
              <a:t>LAURA 模式：EGFR突变放化疗后奥希替尼巩固 (NEJM 2024)</a:t>
            </a:r>
          </a:p>
          <a:p>
            <a:pPr>
              <a:spcAft>
                <a:spcPts val="200"/>
              </a:spcAft>
              <a:defRPr sz="1050" b="1">
                <a:solidFill>
                  <a:srgbClr val="1E293B"/>
                </a:solidFill>
                <a:latin typeface="Arial"/>
              </a:defRPr>
            </a:pPr>
            <a:r>
              <a:t>★ 解决历史痛点</a:t>
            </a:r>
          </a:p>
          <a:p>
            <a:pPr>
              <a:spcAft>
                <a:spcPts val="600"/>
              </a:spcAft>
              <a:defRPr sz="950">
                <a:solidFill>
                  <a:srgbClr val="64748B"/>
                </a:solidFill>
                <a:latin typeface="Arial"/>
              </a:defRPr>
            </a:pPr>
            <a:r>
              <a:t>既往 PACIFIC 亚组提示 EGFR 突变患者无法从免疫巩固中获益，且有更高放射性肺炎风险。LAURA 研究专门针对不可切除 EGFR 突变 III 期患者设计。</a:t>
            </a:r>
          </a:p>
          <a:p>
            <a:pPr>
              <a:spcAft>
                <a:spcPts val="200"/>
              </a:spcAft>
              <a:defRPr sz="1050" b="1">
                <a:solidFill>
                  <a:srgbClr val="1E293B"/>
                </a:solidFill>
                <a:latin typeface="Arial"/>
              </a:defRPr>
            </a:pPr>
            <a:r>
              <a:t>★ 治疗策略</a:t>
            </a:r>
          </a:p>
          <a:p>
            <a:pPr>
              <a:spcAft>
                <a:spcPts val="600"/>
              </a:spcAft>
              <a:defRPr sz="950">
                <a:solidFill>
                  <a:srgbClr val="64748B"/>
                </a:solidFill>
                <a:latin typeface="Arial"/>
              </a:defRPr>
            </a:pPr>
            <a:r>
              <a:t>完成根治性放化疗（同步或序贯放化疗）后未进展的 EGFRm 患者，给予奥希替尼 80 mg QD 巩固维持直至进展或满 3 年。</a:t>
            </a:r>
          </a:p>
          <a:p>
            <a:pPr>
              <a:spcAft>
                <a:spcPts val="200"/>
              </a:spcAft>
              <a:defRPr sz="1050" b="1">
                <a:solidFill>
                  <a:srgbClr val="1E293B"/>
                </a:solidFill>
                <a:latin typeface="Arial"/>
              </a:defRPr>
            </a:pPr>
            <a:r>
              <a:t>★ 史诗级 PFS 跨越</a:t>
            </a:r>
          </a:p>
          <a:p>
            <a:pPr>
              <a:spcAft>
                <a:spcPts val="600"/>
              </a:spcAft>
              <a:defRPr sz="950">
                <a:solidFill>
                  <a:srgbClr val="64748B"/>
                </a:solidFill>
                <a:latin typeface="Arial"/>
              </a:defRPr>
            </a:pPr>
            <a:r>
              <a:t>奥希替尼组独立评审中位 PFS 达到 39.1 个月，而安慰剂组仅 5.6 个月！疾病进展或死亡风险惊人骤降 84% (HR = 0.16, 95% CI 0.10-0.24, P &lt; 0.001)！</a:t>
            </a:r>
          </a:p>
          <a:p>
            <a:pPr>
              <a:spcAft>
                <a:spcPts val="200"/>
              </a:spcAft>
              <a:defRPr sz="1050" b="1">
                <a:solidFill>
                  <a:srgbClr val="1E293B"/>
                </a:solidFill>
                <a:latin typeface="Arial"/>
              </a:defRPr>
            </a:pPr>
            <a:r>
              <a:t>★ 脑转移与OS获益</a:t>
            </a:r>
          </a:p>
          <a:p>
            <a:pPr>
              <a:spcAft>
                <a:spcPts val="600"/>
              </a:spcAft>
              <a:defRPr sz="950">
                <a:solidFill>
                  <a:srgbClr val="64748B"/>
                </a:solidFill>
                <a:latin typeface="Arial"/>
              </a:defRPr>
            </a:pPr>
            <a:r>
              <a:t>大幅压制颅内新发转移病灶，初步 OS 数据已展现出强劲获益趋势。全方位确立 EGFRm III 期放化疗后奥希替尼巩固为全球唯一标准。</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0EA5E9"/>
                </a:solidFill>
                <a:latin typeface="Arial"/>
              </a:defRPr>
            </a:pPr>
            <a:r>
              <a:t>晚期转移性决策总览</a:t>
            </a:r>
          </a:p>
          <a:p>
            <a:pPr>
              <a:defRPr sz="2200" b="1">
                <a:solidFill>
                  <a:srgbClr val="1E293B"/>
                </a:solidFill>
                <a:latin typeface="Arial"/>
              </a:defRPr>
            </a:pPr>
            <a:r>
              <a:t>晚期转移性 NSCLC（Stage IV）一线个体化精准诊疗全景路径</a:t>
            </a:r>
          </a:p>
          <a:p>
            <a:pPr>
              <a:spcBef>
                <a:spcPts val="200"/>
              </a:spcBef>
              <a:defRPr sz="1100">
                <a:solidFill>
                  <a:srgbClr val="64748B"/>
                </a:solidFill>
                <a:latin typeface="Arial"/>
              </a:defRPr>
            </a:pPr>
            <a:r>
              <a:t>核心原则：“先基因，后免疫；有靶打靶，无靶免化”</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00">
                <a:solidFill>
                  <a:srgbClr val="94A3B8"/>
                </a:solidFill>
                <a:latin typeface="Arial"/>
              </a:defRPr>
            </a:pPr>
            <a:r>
              <a:t>2026年非小细胞肺癌（NSCLC）临床诊疗与前沿指南 | 循证源：PubMed / ClinicalTrials.gov                                                                Slide 12 / 22</a:t>
            </a:r>
          </a:p>
        </p:txBody>
      </p:sp>
      <p:sp>
        <p:nvSpPr>
          <p:cNvPr id="5" name="Rounded Rectangle 4"/>
          <p:cNvSpPr/>
          <p:nvPr/>
        </p:nvSpPr>
        <p:spPr>
          <a:xfrm>
            <a:off x="731520" y="1554480"/>
            <a:ext cx="3456432"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spcAft>
                <a:spcPts val="1400"/>
              </a:spcAft>
              <a:defRPr sz="1200" b="1">
                <a:solidFill>
                  <a:srgbClr val="0EA5E9"/>
                </a:solidFill>
                <a:latin typeface="Arial"/>
              </a:defRPr>
            </a:pPr>
            <a:r>
              <a:t>分支 A：驱动基因阳性 (Oncogene+)</a:t>
            </a:r>
          </a:p>
          <a:p>
            <a:pPr>
              <a:spcAft>
                <a:spcPts val="800"/>
              </a:spcAft>
              <a:defRPr sz="1000">
                <a:solidFill>
                  <a:srgbClr val="1E293B"/>
                </a:solidFill>
                <a:latin typeface="Arial"/>
              </a:defRPr>
            </a:pPr>
            <a:r>
              <a:t>• EGFR敏感突变：FLAURA2(靶化) / MARIPOSA(双抗+靶向) / 三代单药</a:t>
            </a:r>
          </a:p>
          <a:p>
            <a:pPr>
              <a:spcAft>
                <a:spcPts val="800"/>
              </a:spcAft>
              <a:defRPr sz="1000">
                <a:solidFill>
                  <a:srgbClr val="1E293B"/>
                </a:solidFill>
                <a:latin typeface="Arial"/>
              </a:defRPr>
            </a:pPr>
            <a:r>
              <a:t>• EGFR 20ins：埃万妥单抗+化疗 (PAPILLON) / 舒沃替尼</a:t>
            </a:r>
          </a:p>
          <a:p>
            <a:pPr>
              <a:spcAft>
                <a:spcPts val="800"/>
              </a:spcAft>
              <a:defRPr sz="1000">
                <a:solidFill>
                  <a:srgbClr val="1E293B"/>
                </a:solidFill>
                <a:latin typeface="Arial"/>
              </a:defRPr>
            </a:pPr>
            <a:r>
              <a:t>• ALK阳性：洛拉替尼 (CROWN 5年PFS 60%) / 阿来替尼</a:t>
            </a:r>
          </a:p>
          <a:p>
            <a:pPr>
              <a:spcAft>
                <a:spcPts val="800"/>
              </a:spcAft>
              <a:defRPr sz="1000">
                <a:solidFill>
                  <a:srgbClr val="1E293B"/>
                </a:solidFill>
                <a:latin typeface="Arial"/>
              </a:defRPr>
            </a:pPr>
            <a:r>
              <a:t>• ROS1 / RET：瑞波替尼 (TRIDENT-1) / 塞普替尼 (LIBRETTO-431)</a:t>
            </a:r>
          </a:p>
          <a:p>
            <a:pPr>
              <a:spcAft>
                <a:spcPts val="800"/>
              </a:spcAft>
              <a:defRPr sz="1000">
                <a:solidFill>
                  <a:srgbClr val="1E293B"/>
                </a:solidFill>
                <a:latin typeface="Arial"/>
              </a:defRPr>
            </a:pPr>
            <a:r>
              <a:t>• MET 14跳突：特泊替尼 / 卡马替尼 / 谷美替尼</a:t>
            </a:r>
          </a:p>
          <a:p>
            <a:pPr>
              <a:spcAft>
                <a:spcPts val="800"/>
              </a:spcAft>
              <a:defRPr sz="1000">
                <a:solidFill>
                  <a:srgbClr val="1E293B"/>
                </a:solidFill>
                <a:latin typeface="Arial"/>
              </a:defRPr>
            </a:pPr>
            <a:r>
              <a:t>• KRAS G12C：索托拉西布 / 阿达格拉西布；一线联合试验</a:t>
            </a:r>
          </a:p>
          <a:p>
            <a:pPr>
              <a:spcAft>
                <a:spcPts val="800"/>
              </a:spcAft>
              <a:defRPr sz="1000">
                <a:solidFill>
                  <a:srgbClr val="1E293B"/>
                </a:solidFill>
                <a:latin typeface="Arial"/>
              </a:defRPr>
            </a:pPr>
            <a:r>
              <a:t>• HER2突变：德曲妥珠单抗 (T-DXd) / 宗格替尼 (口服TKI)</a:t>
            </a:r>
          </a:p>
        </p:txBody>
      </p:sp>
      <p:sp>
        <p:nvSpPr>
          <p:cNvPr id="6" name="Rectangle 5"/>
          <p:cNvSpPr/>
          <p:nvPr/>
        </p:nvSpPr>
        <p:spPr>
          <a:xfrm>
            <a:off x="731520" y="1554480"/>
            <a:ext cx="3456432" cy="10972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370832" y="1554480"/>
            <a:ext cx="3456432"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spcAft>
                <a:spcPts val="1400"/>
              </a:spcAft>
              <a:defRPr sz="1200" b="1">
                <a:solidFill>
                  <a:srgbClr val="6366F1"/>
                </a:solidFill>
                <a:latin typeface="Arial"/>
              </a:defRPr>
            </a:pPr>
            <a:r>
              <a:t>分支 B：PD-L1 高表达 (TPS ≥ 50%)</a:t>
            </a:r>
          </a:p>
          <a:p>
            <a:pPr>
              <a:spcAft>
                <a:spcPts val="800"/>
              </a:spcAft>
              <a:defRPr sz="1000">
                <a:solidFill>
                  <a:srgbClr val="1E293B"/>
                </a:solidFill>
                <a:latin typeface="Arial"/>
              </a:defRPr>
            </a:pPr>
            <a:r>
              <a:t>• 双抗单药革命：依沃西单抗 (HARMONi-2) 击败K药，mPFS 11.1月</a:t>
            </a:r>
          </a:p>
          <a:p>
            <a:pPr>
              <a:spcAft>
                <a:spcPts val="800"/>
              </a:spcAft>
              <a:defRPr sz="1000">
                <a:solidFill>
                  <a:srgbClr val="1E293B"/>
                </a:solidFill>
                <a:latin typeface="Arial"/>
              </a:defRPr>
            </a:pPr>
            <a:r>
              <a:t>• 经典单药免疫：帕博利珠单抗单药 (KEYNOTE-024) / 阿替利珠</a:t>
            </a:r>
          </a:p>
          <a:p>
            <a:pPr>
              <a:spcAft>
                <a:spcPts val="800"/>
              </a:spcAft>
              <a:defRPr sz="1000">
                <a:solidFill>
                  <a:srgbClr val="1E293B"/>
                </a:solidFill>
                <a:latin typeface="Arial"/>
              </a:defRPr>
            </a:pPr>
            <a:r>
              <a:t>• 巨大肿瘤负荷/伴症状：免疫联合含铂双药化疗</a:t>
            </a:r>
          </a:p>
          <a:p>
            <a:pPr>
              <a:spcAft>
                <a:spcPts val="800"/>
              </a:spcAft>
              <a:defRPr sz="1000">
                <a:solidFill>
                  <a:srgbClr val="1E293B"/>
                </a:solidFill>
                <a:latin typeface="Arial"/>
              </a:defRPr>
            </a:pPr>
            <a:r>
              <a:t>• 新一代ADC联合试验：Dato-DXd+Rilvegostomig (NCT06357533)</a:t>
            </a:r>
          </a:p>
        </p:txBody>
      </p:sp>
      <p:sp>
        <p:nvSpPr>
          <p:cNvPr id="8" name="Rectangle 7"/>
          <p:cNvSpPr/>
          <p:nvPr/>
        </p:nvSpPr>
        <p:spPr>
          <a:xfrm>
            <a:off x="4370832" y="1554480"/>
            <a:ext cx="3456432" cy="10972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10144" y="1554480"/>
            <a:ext cx="3456432"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spcAft>
                <a:spcPts val="1400"/>
              </a:spcAft>
              <a:defRPr sz="1200" b="1">
                <a:solidFill>
                  <a:srgbClr val="10B981"/>
                </a:solidFill>
                <a:latin typeface="Arial"/>
              </a:defRPr>
            </a:pPr>
            <a:r>
              <a:t>分支 C：PD-L1 1%~49% 与 &lt; 1%</a:t>
            </a:r>
          </a:p>
          <a:p>
            <a:pPr>
              <a:spcAft>
                <a:spcPts val="800"/>
              </a:spcAft>
              <a:defRPr sz="1000">
                <a:solidFill>
                  <a:srgbClr val="1E293B"/>
                </a:solidFill>
                <a:latin typeface="Arial"/>
              </a:defRPr>
            </a:pPr>
            <a:r>
              <a:t>• 非鳞状细胞癌：帕博利珠单抗 + 培美曲塞 + 卡铂 (KEYNOTE-189)</a:t>
            </a:r>
          </a:p>
          <a:p>
            <a:pPr>
              <a:spcAft>
                <a:spcPts val="800"/>
              </a:spcAft>
              <a:defRPr sz="1000">
                <a:solidFill>
                  <a:srgbClr val="1E293B"/>
                </a:solidFill>
                <a:latin typeface="Arial"/>
              </a:defRPr>
            </a:pPr>
            <a:r>
              <a:t>• 鳞状细胞癌：帕博利珠单抗 + 紫杉醇/白紫 + 卡铂 (KEYNOTE-407)</a:t>
            </a:r>
          </a:p>
          <a:p>
            <a:pPr>
              <a:spcAft>
                <a:spcPts val="800"/>
              </a:spcAft>
              <a:defRPr sz="1000">
                <a:solidFill>
                  <a:srgbClr val="1E293B"/>
                </a:solidFill>
                <a:latin typeface="Arial"/>
              </a:defRPr>
            </a:pPr>
            <a:r>
              <a:t>• 双免联合模式：纳武利尤单抗 + 伊匹木单抗 + 2周期化疗 (CM-9LA)</a:t>
            </a:r>
          </a:p>
          <a:p>
            <a:pPr>
              <a:spcAft>
                <a:spcPts val="800"/>
              </a:spcAft>
              <a:defRPr sz="1000">
                <a:solidFill>
                  <a:srgbClr val="1E293B"/>
                </a:solidFill>
                <a:latin typeface="Arial"/>
              </a:defRPr>
            </a:pPr>
            <a:r>
              <a:t>• 国产免疫方案：信迪利单抗、替雷利珠单抗、特瑞普利单抗联合化疗</a:t>
            </a:r>
          </a:p>
        </p:txBody>
      </p:sp>
      <p:sp>
        <p:nvSpPr>
          <p:cNvPr id="10" name="Rectangle 9"/>
          <p:cNvSpPr/>
          <p:nvPr/>
        </p:nvSpPr>
        <p:spPr>
          <a:xfrm>
            <a:off x="8010144" y="1554480"/>
            <a:ext cx="3456432"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0EA5E9"/>
                </a:solidFill>
                <a:latin typeface="Arial"/>
              </a:defRPr>
            </a:pPr>
            <a:r>
              <a:t>EGFR 敏感突变晚期治疗</a:t>
            </a:r>
          </a:p>
          <a:p>
            <a:pPr>
              <a:defRPr sz="2200" b="1">
                <a:solidFill>
                  <a:srgbClr val="1E293B"/>
                </a:solidFill>
                <a:latin typeface="Arial"/>
              </a:defRPr>
            </a:pPr>
            <a:r>
              <a:t>一线联合双雄（FLAURA2 与 MARIPOSA）与三代耐药精准对策</a:t>
            </a:r>
          </a:p>
          <a:p>
            <a:pPr>
              <a:spcBef>
                <a:spcPts val="200"/>
              </a:spcBef>
              <a:defRPr sz="1100">
                <a:solidFill>
                  <a:srgbClr val="64748B"/>
                </a:solidFill>
                <a:latin typeface="Arial"/>
              </a:defRPr>
            </a:pPr>
            <a:r>
              <a:t>一线强化联合方案显著延缓耐药，耐药后根据二次活检分子机制精准施策</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00">
                <a:solidFill>
                  <a:srgbClr val="94A3B8"/>
                </a:solidFill>
                <a:latin typeface="Arial"/>
              </a:defRPr>
            </a:pPr>
            <a:r>
              <a:t>2026年非小细胞肺癌（NSCLC）临床诊疗与前沿指南 | 循证源：PubMed / ClinicalTrials.gov                                                                Slide 13 / 22</a:t>
            </a:r>
          </a:p>
        </p:txBody>
      </p:sp>
      <p:sp>
        <p:nvSpPr>
          <p:cNvPr id="5" name="Rounded Rectangle 4"/>
          <p:cNvSpPr/>
          <p:nvPr/>
        </p:nvSpPr>
        <p:spPr>
          <a:xfrm>
            <a:off x="731520" y="1554480"/>
            <a:ext cx="548640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800"/>
              </a:spcAft>
              <a:defRPr sz="1300" b="1">
                <a:solidFill>
                  <a:srgbClr val="1E293B"/>
                </a:solidFill>
                <a:latin typeface="Arial"/>
              </a:defRPr>
            </a:pPr>
            <a:r>
              <a:t>一线两大里程碑强化方案对比</a:t>
            </a:r>
          </a:p>
        </p:txBody>
      </p:sp>
      <p:graphicFrame>
        <p:nvGraphicFramePr>
          <p:cNvPr id="6" name="Table 5"/>
          <p:cNvGraphicFramePr>
            <a:graphicFrameLocks noGrp="1"/>
          </p:cNvGraphicFramePr>
          <p:nvPr/>
        </p:nvGraphicFramePr>
        <p:xfrm>
          <a:off x="868680" y="2103120"/>
          <a:ext cx="5212080" cy="3840480"/>
        </p:xfrm>
        <a:graphic>
          <a:graphicData uri="http://schemas.openxmlformats.org/drawingml/2006/table">
            <a:tbl>
              <a:tblPr firstRow="1" bandRow="1">
                <a:tableStyleId>{5C22544A-7EE6-4342-B048-85BDC9FD1C3A}</a:tableStyleId>
              </a:tblPr>
              <a:tblGrid>
                <a:gridCol w="1371600"/>
                <a:gridCol w="1920240"/>
                <a:gridCol w="1920240"/>
              </a:tblGrid>
              <a:tr h="768096">
                <a:tc>
                  <a:txBody>
                    <a:bodyPr/>
                    <a:lstStyle/>
                    <a:p>
                      <a:pPr>
                        <a:defRPr sz="950" b="1">
                          <a:solidFill>
                            <a:srgbClr val="F1F5F9"/>
                          </a:solidFill>
                          <a:latin typeface="Arial"/>
                        </a:defRPr>
                      </a:pPr>
                      <a:r>
                        <a:t>对比维度</a:t>
                      </a:r>
                    </a:p>
                  </a:txBody>
                  <a:tcPr>
                    <a:solidFill>
                      <a:srgbClr val="1E293B"/>
                    </a:solidFill>
                  </a:tcPr>
                </a:tc>
                <a:tc>
                  <a:txBody>
                    <a:bodyPr/>
                    <a:lstStyle/>
                    <a:p>
                      <a:pPr>
                        <a:defRPr sz="950" b="1">
                          <a:solidFill>
                            <a:srgbClr val="F1F5F9"/>
                          </a:solidFill>
                          <a:latin typeface="Arial"/>
                        </a:defRPr>
                      </a:pPr>
                      <a:r>
                        <a:t>FLAURA2 方案 (靶+化)</a:t>
                      </a:r>
                    </a:p>
                  </a:txBody>
                  <a:tcPr>
                    <a:solidFill>
                      <a:srgbClr val="1E293B"/>
                    </a:solidFill>
                  </a:tcPr>
                </a:tc>
                <a:tc>
                  <a:txBody>
                    <a:bodyPr/>
                    <a:lstStyle/>
                    <a:p>
                      <a:pPr>
                        <a:defRPr sz="950" b="1">
                          <a:solidFill>
                            <a:srgbClr val="F1F5F9"/>
                          </a:solidFill>
                          <a:latin typeface="Arial"/>
                        </a:defRPr>
                      </a:pPr>
                      <a:r>
                        <a:t>MARIPOSA 方案 (双抗+靶)</a:t>
                      </a:r>
                    </a:p>
                  </a:txBody>
                  <a:tcPr>
                    <a:solidFill>
                      <a:srgbClr val="1E293B"/>
                    </a:solidFill>
                  </a:tcPr>
                </a:tc>
              </a:tr>
              <a:tr h="768096">
                <a:tc>
                  <a:txBody>
                    <a:bodyPr/>
                    <a:lstStyle/>
                    <a:p>
                      <a:pPr>
                        <a:defRPr sz="850" b="1">
                          <a:solidFill>
                            <a:srgbClr val="0EA5E9"/>
                          </a:solidFill>
                          <a:latin typeface="Arial"/>
                        </a:defRPr>
                      </a:pPr>
                      <a:r>
                        <a:t>治疗配伍</a:t>
                      </a:r>
                    </a:p>
                  </a:txBody>
                  <a:tcPr>
                    <a:solidFill>
                      <a:srgbClr val="F8FAFC"/>
                    </a:solidFill>
                  </a:tcPr>
                </a:tc>
                <a:tc>
                  <a:txBody>
                    <a:bodyPr/>
                    <a:lstStyle/>
                    <a:p>
                      <a:pPr>
                        <a:defRPr sz="850">
                          <a:solidFill>
                            <a:srgbClr val="1E293B"/>
                          </a:solidFill>
                          <a:latin typeface="Arial"/>
                        </a:defRPr>
                      </a:pPr>
                      <a:r>
                        <a:t>奥希替尼 + 培美曲塞 + 卡铂 (4周期) → 奥希+培美维持</a:t>
                      </a:r>
                    </a:p>
                  </a:txBody>
                  <a:tcPr>
                    <a:solidFill>
                      <a:srgbClr val="F8FAFC"/>
                    </a:solidFill>
                  </a:tcPr>
                </a:tc>
                <a:tc>
                  <a:txBody>
                    <a:bodyPr/>
                    <a:lstStyle/>
                    <a:p>
                      <a:pPr>
                        <a:defRPr sz="850">
                          <a:solidFill>
                            <a:srgbClr val="1E293B"/>
                          </a:solidFill>
                          <a:latin typeface="Arial"/>
                        </a:defRPr>
                      </a:pPr>
                      <a:r>
                        <a:t>埃万妥单抗 (Amivantamab) + 拉泽替尼 (Lazertinib)</a:t>
                      </a:r>
                    </a:p>
                  </a:txBody>
                  <a:tcPr>
                    <a:solidFill>
                      <a:srgbClr val="F8FAFC"/>
                    </a:solidFill>
                  </a:tcPr>
                </a:tc>
              </a:tr>
              <a:tr h="768096">
                <a:tc>
                  <a:txBody>
                    <a:bodyPr/>
                    <a:lstStyle/>
                    <a:p>
                      <a:pPr>
                        <a:defRPr sz="850" b="1">
                          <a:solidFill>
                            <a:srgbClr val="0EA5E9"/>
                          </a:solidFill>
                          <a:latin typeface="Arial"/>
                        </a:defRPr>
                      </a:pPr>
                      <a:r>
                        <a:t>中位 PFS</a:t>
                      </a:r>
                    </a:p>
                  </a:txBody>
                  <a:tcPr>
                    <a:solidFill>
                      <a:srgbClr val="FFFFFF"/>
                    </a:solidFill>
                  </a:tcPr>
                </a:tc>
                <a:tc>
                  <a:txBody>
                    <a:bodyPr/>
                    <a:lstStyle/>
                    <a:p>
                      <a:pPr>
                        <a:defRPr sz="850">
                          <a:solidFill>
                            <a:srgbClr val="1E293B"/>
                          </a:solidFill>
                          <a:latin typeface="Arial"/>
                        </a:defRPr>
                      </a:pPr>
                      <a:r>
                        <a:t>25.5 个月 vs 单药 16.7 个月</a:t>
                      </a:r>
                    </a:p>
                    <a:p>
                      <a:r>
                        <a:t>(HR = 0.62, P &lt; 0.001)</a:t>
                      </a:r>
                    </a:p>
                  </a:txBody>
                  <a:tcPr>
                    <a:solidFill>
                      <a:srgbClr val="FFFFFF"/>
                    </a:solidFill>
                  </a:tcPr>
                </a:tc>
                <a:tc>
                  <a:txBody>
                    <a:bodyPr/>
                    <a:lstStyle/>
                    <a:p>
                      <a:pPr>
                        <a:defRPr sz="850">
                          <a:solidFill>
                            <a:srgbClr val="1E293B"/>
                          </a:solidFill>
                          <a:latin typeface="Arial"/>
                        </a:defRPr>
                      </a:pPr>
                      <a:r>
                        <a:t>23.7 个月 vs 奥希单药 16.6 个月</a:t>
                      </a:r>
                    </a:p>
                    <a:p>
                      <a:r>
                        <a:t>(HR = 0.70, P &lt; 0.001)</a:t>
                      </a:r>
                    </a:p>
                  </a:txBody>
                  <a:tcPr>
                    <a:solidFill>
                      <a:srgbClr val="FFFFFF"/>
                    </a:solidFill>
                  </a:tcPr>
                </a:tc>
              </a:tr>
              <a:tr h="768096">
                <a:tc>
                  <a:txBody>
                    <a:bodyPr/>
                    <a:lstStyle/>
                    <a:p>
                      <a:pPr>
                        <a:defRPr sz="850" b="1">
                          <a:solidFill>
                            <a:srgbClr val="0EA5E9"/>
                          </a:solidFill>
                          <a:latin typeface="Arial"/>
                        </a:defRPr>
                      </a:pPr>
                      <a:r>
                        <a:t>脑转移与OS</a:t>
                      </a:r>
                    </a:p>
                  </a:txBody>
                  <a:tcPr>
                    <a:solidFill>
                      <a:srgbClr val="F8FAFC"/>
                    </a:solidFill>
                  </a:tcPr>
                </a:tc>
                <a:tc>
                  <a:txBody>
                    <a:bodyPr/>
                    <a:lstStyle/>
                    <a:p>
                      <a:pPr>
                        <a:defRPr sz="850">
                          <a:solidFill>
                            <a:srgbClr val="1E293B"/>
                          </a:solidFill>
                          <a:latin typeface="Arial"/>
                        </a:defRPr>
                      </a:pPr>
                      <a:r>
                        <a:t>伴脑转移患者 CNS-PFS 达 30.2 个月 (HR=0.58)；2026最新公布OS获益</a:t>
                      </a:r>
                    </a:p>
                  </a:txBody>
                  <a:tcPr>
                    <a:solidFill>
                      <a:srgbClr val="F8FAFC"/>
                    </a:solidFill>
                  </a:tcPr>
                </a:tc>
                <a:tc>
                  <a:txBody>
                    <a:bodyPr/>
                    <a:lstStyle/>
                    <a:p>
                      <a:pPr>
                        <a:defRPr sz="850">
                          <a:solidFill>
                            <a:srgbClr val="1E293B"/>
                          </a:solidFill>
                          <a:latin typeface="Arial"/>
                        </a:defRPr>
                      </a:pPr>
                      <a:r>
                        <a:t>高危患者获益显著；2025 NEJM 报道总体 OS 具有显著统计学改善</a:t>
                      </a:r>
                    </a:p>
                  </a:txBody>
                  <a:tcPr>
                    <a:solidFill>
                      <a:srgbClr val="F8FAFC"/>
                    </a:solidFill>
                  </a:tcPr>
                </a:tc>
              </a:tr>
              <a:tr h="768096">
                <a:tc>
                  <a:txBody>
                    <a:bodyPr/>
                    <a:lstStyle/>
                    <a:p>
                      <a:pPr>
                        <a:defRPr sz="850" b="1">
                          <a:solidFill>
                            <a:srgbClr val="0EA5E9"/>
                          </a:solidFill>
                          <a:latin typeface="Arial"/>
                        </a:defRPr>
                      </a:pPr>
                      <a:r>
                        <a:t>耐受性与剂型</a:t>
                      </a:r>
                    </a:p>
                  </a:txBody>
                  <a:tcPr>
                    <a:solidFill>
                      <a:srgbClr val="FFFFFF"/>
                    </a:solidFill>
                  </a:tcPr>
                </a:tc>
                <a:tc>
                  <a:txBody>
                    <a:bodyPr/>
                    <a:lstStyle/>
                    <a:p>
                      <a:pPr>
                        <a:defRPr sz="850">
                          <a:solidFill>
                            <a:srgbClr val="1E293B"/>
                          </a:solidFill>
                          <a:latin typeface="Arial"/>
                        </a:defRPr>
                      </a:pPr>
                      <a:r>
                        <a:t>骨髓抑制、贫血、恶心；口服靶向+化疗维持，需常规预处理</a:t>
                      </a:r>
                    </a:p>
                  </a:txBody>
                  <a:tcPr>
                    <a:solidFill>
                      <a:srgbClr val="FFFFFF"/>
                    </a:solidFill>
                  </a:tcPr>
                </a:tc>
                <a:tc>
                  <a:txBody>
                    <a:bodyPr/>
                    <a:lstStyle/>
                    <a:p>
                      <a:pPr>
                        <a:defRPr sz="850">
                          <a:solidFill>
                            <a:srgbClr val="1E293B"/>
                          </a:solidFill>
                          <a:latin typeface="Arial"/>
                        </a:defRPr>
                      </a:pPr>
                      <a:r>
                        <a:t>皮下注射 (PALOMA-3) 大幅降低输注反应至13%；主要为皮疹与甲沟炎</a:t>
                      </a:r>
                    </a:p>
                  </a:txBody>
                  <a:tcPr>
                    <a:solidFill>
                      <a:srgbClr val="FFFFFF"/>
                    </a:solidFill>
                  </a:tcPr>
                </a:tc>
              </a:tr>
            </a:tbl>
          </a:graphicData>
        </a:graphic>
      </p:graphicFrame>
      <p:sp>
        <p:nvSpPr>
          <p:cNvPr id="7" name="Rounded Rectangle 6"/>
          <p:cNvSpPr/>
          <p:nvPr/>
        </p:nvSpPr>
        <p:spPr>
          <a:xfrm>
            <a:off x="6400800" y="1554480"/>
            <a:ext cx="502920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000"/>
              </a:spcAft>
              <a:defRPr sz="1300" b="1">
                <a:solidFill>
                  <a:srgbClr val="1E293B"/>
                </a:solidFill>
                <a:latin typeface="Arial"/>
              </a:defRPr>
            </a:pPr>
            <a:r>
              <a:t>三代 TKI 进展后精准应对策略</a:t>
            </a:r>
          </a:p>
          <a:p>
            <a:pPr>
              <a:spcAft>
                <a:spcPts val="200"/>
              </a:spcAft>
              <a:defRPr sz="1050" b="1">
                <a:solidFill>
                  <a:srgbClr val="6366F1"/>
                </a:solidFill>
                <a:latin typeface="Arial"/>
              </a:defRPr>
            </a:pPr>
            <a:r>
              <a:t>▲ 二次活检/ctDNA指导分型</a:t>
            </a:r>
          </a:p>
          <a:p>
            <a:pPr>
              <a:spcAft>
                <a:spcPts val="600"/>
              </a:spcAft>
              <a:defRPr sz="950">
                <a:solidFill>
                  <a:srgbClr val="64748B"/>
                </a:solidFill>
                <a:latin typeface="Arial"/>
              </a:defRPr>
            </a:pPr>
            <a:r>
              <a:t>约15%~20%为 MET 扩增，10%~15%为继发 EGFR C797S 突变，3%~10%为小细胞肺癌(SCLC)神经内分泌转化。</a:t>
            </a:r>
          </a:p>
          <a:p>
            <a:pPr>
              <a:spcAft>
                <a:spcPts val="200"/>
              </a:spcAft>
              <a:defRPr sz="1050" b="1">
                <a:solidFill>
                  <a:srgbClr val="6366F1"/>
                </a:solidFill>
                <a:latin typeface="Arial"/>
              </a:defRPr>
            </a:pPr>
            <a:r>
              <a:t>▲ MET 旁路扩增耐药</a:t>
            </a:r>
          </a:p>
          <a:p>
            <a:pPr>
              <a:spcAft>
                <a:spcPts val="600"/>
              </a:spcAft>
              <a:defRPr sz="950">
                <a:solidFill>
                  <a:srgbClr val="64748B"/>
                </a:solidFill>
                <a:latin typeface="Arial"/>
              </a:defRPr>
            </a:pPr>
            <a:r>
              <a:t>奥希替尼联合赛沃替尼 (SAVANNAH 研究，高MET扩增ORR达49%) 或特泊替尼/卡马替尼。</a:t>
            </a:r>
          </a:p>
          <a:p>
            <a:pPr>
              <a:spcAft>
                <a:spcPts val="200"/>
              </a:spcAft>
              <a:defRPr sz="1050" b="1">
                <a:solidFill>
                  <a:srgbClr val="F43F5E"/>
                </a:solidFill>
                <a:latin typeface="Arial"/>
              </a:defRPr>
            </a:pPr>
            <a:r>
              <a:t>▲ 无驱动基因旁路耐药方案</a:t>
            </a:r>
          </a:p>
          <a:p>
            <a:pPr>
              <a:spcAft>
                <a:spcPts val="600"/>
              </a:spcAft>
              <a:defRPr sz="950">
                <a:solidFill>
                  <a:srgbClr val="64748B"/>
                </a:solidFill>
                <a:latin typeface="Arial"/>
              </a:defRPr>
            </a:pPr>
            <a:r>
              <a:t>① MARIPOSA-2 方案：埃万妥单抗 + 培美曲塞 + 卡铂，显著优于单纯化疗；</a:t>
            </a:r>
            <a:br/>
            <a:r>
              <a:t>② HARMONi-A 方案 (JAMA 2024)：依沃西单抗 (PD-1/VEGF双抗) + 培美曲塞 + 卡铂 (PFS HR=0.46)。</a:t>
            </a:r>
          </a:p>
          <a:p>
            <a:pPr>
              <a:spcAft>
                <a:spcPts val="200"/>
              </a:spcAft>
              <a:defRPr sz="1050" b="1">
                <a:solidFill>
                  <a:srgbClr val="6366F1"/>
                </a:solidFill>
                <a:latin typeface="Arial"/>
              </a:defRPr>
            </a:pPr>
            <a:r>
              <a:t>▲ 新型 ADC 救援</a:t>
            </a:r>
          </a:p>
          <a:p>
            <a:pPr>
              <a:spcAft>
                <a:spcPts val="600"/>
              </a:spcAft>
              <a:defRPr sz="950">
                <a:solidFill>
                  <a:srgbClr val="64748B"/>
                </a:solidFill>
                <a:latin typeface="Arial"/>
              </a:defRPr>
            </a:pPr>
            <a:r>
              <a:t>HER3-DXd (Patritumab Deruxtecan) 在经治 EGFRm NSCLC 中获突破性疗效；Dato-DXd 联合奥希替尼正在全球开展 Phase 3 探索。</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0EA5E9"/>
                </a:solidFill>
                <a:latin typeface="Arial"/>
              </a:defRPr>
            </a:pPr>
            <a:r>
              <a:t>罕见靶点精准治疗</a:t>
            </a:r>
          </a:p>
          <a:p>
            <a:pPr>
              <a:defRPr sz="2200" b="1">
                <a:solidFill>
                  <a:srgbClr val="1E293B"/>
                </a:solidFill>
                <a:latin typeface="Arial"/>
              </a:defRPr>
            </a:pPr>
            <a:r>
              <a:t>EGFR 20ins, ALK, ROS1, BRAF, MET, RET 精准靶向全景</a:t>
            </a:r>
          </a:p>
          <a:p>
            <a:pPr>
              <a:spcBef>
                <a:spcPts val="200"/>
              </a:spcBef>
              <a:defRPr sz="1100">
                <a:solidFill>
                  <a:srgbClr val="64748B"/>
                </a:solidFill>
                <a:latin typeface="Arial"/>
              </a:defRPr>
            </a:pPr>
            <a:r>
              <a:t>洛拉替尼创下实体瘤最长PFS纪录，埃万妥单抗与舒沃替尼攻克20ins难治靶点</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00">
                <a:solidFill>
                  <a:srgbClr val="94A3B8"/>
                </a:solidFill>
                <a:latin typeface="Arial"/>
              </a:defRPr>
            </a:pPr>
            <a:r>
              <a:t>2026年非小细胞肺癌（NSCLC）临床诊疗与前沿指南 | 循证源：PubMed / ClinicalTrials.gov                                                                Slide 14 / 22</a:t>
            </a:r>
          </a:p>
        </p:txBody>
      </p:sp>
      <p:sp>
        <p:nvSpPr>
          <p:cNvPr id="5" name="Rounded Rectangle 4"/>
          <p:cNvSpPr/>
          <p:nvPr/>
        </p:nvSpPr>
        <p:spPr>
          <a:xfrm>
            <a:off x="731520" y="1554480"/>
            <a:ext cx="525780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800"/>
              </a:spcAft>
              <a:defRPr sz="1200" b="1">
                <a:solidFill>
                  <a:srgbClr val="0EA5E9"/>
                </a:solidFill>
                <a:latin typeface="Arial"/>
              </a:defRPr>
            </a:pPr>
            <a:r>
              <a:t>EGFR 20外显子插入突变 (20ins)</a:t>
            </a:r>
          </a:p>
          <a:p>
            <a:pPr>
              <a:spcAft>
                <a:spcPts val="500"/>
              </a:spcAft>
              <a:defRPr sz="950">
                <a:solidFill>
                  <a:srgbClr val="1E293B"/>
                </a:solidFill>
                <a:latin typeface="Arial"/>
              </a:defRPr>
            </a:pPr>
            <a:r>
              <a:t>• 一线首选：埃万妥单抗 + 卡铂 + 培美曲塞 (PAPILLON 研究，mPFS 11.4月 vs 化疗 6.7月，HR=0.40)</a:t>
            </a:r>
          </a:p>
          <a:p>
            <a:pPr>
              <a:spcAft>
                <a:spcPts val="500"/>
              </a:spcAft>
              <a:defRPr sz="950">
                <a:solidFill>
                  <a:srgbClr val="1E293B"/>
                </a:solidFill>
                <a:latin typeface="Arial"/>
              </a:defRPr>
            </a:pPr>
            <a:r>
              <a:t>• 口服靶向首选：舒沃替尼 (Sunvozertinib)，二线ORR 60.8%，入脑活性强；高剂量伏美替尼 (FAVOUR)</a:t>
            </a:r>
          </a:p>
        </p:txBody>
      </p:sp>
      <p:sp>
        <p:nvSpPr>
          <p:cNvPr id="6" name="Rectangle 5"/>
          <p:cNvSpPr/>
          <p:nvPr/>
        </p:nvSpPr>
        <p:spPr>
          <a:xfrm>
            <a:off x="731520" y="1554480"/>
            <a:ext cx="525780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172200" y="1554480"/>
            <a:ext cx="525780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800"/>
              </a:spcAft>
              <a:defRPr sz="1200" b="1">
                <a:solidFill>
                  <a:srgbClr val="6366F1"/>
                </a:solidFill>
                <a:latin typeface="Arial"/>
              </a:defRPr>
            </a:pPr>
            <a:r>
              <a:t>ALK 融合阳性 (极度敏感靶点)</a:t>
            </a:r>
          </a:p>
          <a:p>
            <a:pPr>
              <a:spcAft>
                <a:spcPts val="500"/>
              </a:spcAft>
              <a:defRPr sz="950">
                <a:solidFill>
                  <a:srgbClr val="1E293B"/>
                </a:solidFill>
                <a:latin typeface="Arial"/>
              </a:defRPr>
            </a:pPr>
            <a:r>
              <a:t>• 一线巅峰：洛拉替尼 (Lorlatinib - CROWN 研究 5年随访 PFS 率高达 60%，HR=0.19，脑转移5年进展率仅8%)</a:t>
            </a:r>
          </a:p>
          <a:p>
            <a:pPr>
              <a:spcAft>
                <a:spcPts val="500"/>
              </a:spcAft>
              <a:defRPr sz="950">
                <a:solidFill>
                  <a:srgbClr val="1E293B"/>
                </a:solidFill>
                <a:latin typeface="Arial"/>
              </a:defRPr>
            </a:pPr>
            <a:r>
              <a:t>• 一线备选：阿来替尼 (ALEX 研究，mPFS 34.8月)、布格替尼、恩沙替尼</a:t>
            </a:r>
          </a:p>
        </p:txBody>
      </p:sp>
      <p:sp>
        <p:nvSpPr>
          <p:cNvPr id="8" name="Rectangle 7"/>
          <p:cNvSpPr/>
          <p:nvPr/>
        </p:nvSpPr>
        <p:spPr>
          <a:xfrm>
            <a:off x="6172200" y="1554480"/>
            <a:ext cx="5257800" cy="7315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3913632"/>
            <a:ext cx="525780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800"/>
              </a:spcAft>
              <a:defRPr sz="1200" b="1">
                <a:solidFill>
                  <a:srgbClr val="10B981"/>
                </a:solidFill>
                <a:latin typeface="Arial"/>
              </a:defRPr>
            </a:pPr>
            <a:r>
              <a:t>ROS1 融合与 RET 融合</a:t>
            </a:r>
          </a:p>
          <a:p>
            <a:pPr>
              <a:spcAft>
                <a:spcPts val="500"/>
              </a:spcAft>
              <a:defRPr sz="950">
                <a:solidFill>
                  <a:srgbClr val="1E293B"/>
                </a:solidFill>
                <a:latin typeface="Arial"/>
              </a:defRPr>
            </a:pPr>
            <a:r>
              <a:t>• ROS1 首选：瑞波替尼 (Repotrectinib - TRIDENT-1，初治 ORR 79%，克服 G2032R 溶剂前沿耐药突变)；恩曲替尼</a:t>
            </a:r>
          </a:p>
          <a:p>
            <a:pPr>
              <a:spcAft>
                <a:spcPts val="500"/>
              </a:spcAft>
              <a:defRPr sz="950">
                <a:solidFill>
                  <a:srgbClr val="1E293B"/>
                </a:solidFill>
                <a:latin typeface="Arial"/>
              </a:defRPr>
            </a:pPr>
            <a:r>
              <a:t>• RET 首选：塞普替尼 (Selpercatinib - LIBRETTO-431，一线疗效显著超越化疗+帕博利珠单抗，PFS HR=0.465)</a:t>
            </a:r>
          </a:p>
        </p:txBody>
      </p:sp>
      <p:sp>
        <p:nvSpPr>
          <p:cNvPr id="10" name="Rectangle 9"/>
          <p:cNvSpPr/>
          <p:nvPr/>
        </p:nvSpPr>
        <p:spPr>
          <a:xfrm>
            <a:off x="731520" y="3913632"/>
            <a:ext cx="525780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72200" y="3913632"/>
            <a:ext cx="525780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800"/>
              </a:spcAft>
              <a:defRPr sz="1200" b="1">
                <a:solidFill>
                  <a:srgbClr val="F59E0B"/>
                </a:solidFill>
                <a:latin typeface="Arial"/>
              </a:defRPr>
            </a:pPr>
            <a:r>
              <a:t>MET 14跳突与 BRAF V600E</a:t>
            </a:r>
          </a:p>
          <a:p>
            <a:pPr>
              <a:spcAft>
                <a:spcPts val="500"/>
              </a:spcAft>
              <a:defRPr sz="950">
                <a:solidFill>
                  <a:srgbClr val="1E293B"/>
                </a:solidFill>
                <a:latin typeface="Arial"/>
              </a:defRPr>
            </a:pPr>
            <a:r>
              <a:t>• MET 14跳突：特泊替尼 (Tepotinib - VISION)、卡马替尼 (Capmatinib)、谷美替尼、赛沃替尼</a:t>
            </a:r>
          </a:p>
          <a:p>
            <a:pPr>
              <a:spcAft>
                <a:spcPts val="500"/>
              </a:spcAft>
              <a:defRPr sz="950">
                <a:solidFill>
                  <a:srgbClr val="1E293B"/>
                </a:solidFill>
                <a:latin typeface="Arial"/>
              </a:defRPr>
            </a:pPr>
            <a:r>
              <a:t>• BRAF V600E：达拉非尼 + 曲美替尼；康奈非尼 + 比美替尼 (PHAROS 研究，初治 ORR 75%)</a:t>
            </a:r>
          </a:p>
        </p:txBody>
      </p:sp>
      <p:sp>
        <p:nvSpPr>
          <p:cNvPr id="12" name="Rectangle 11"/>
          <p:cNvSpPr/>
          <p:nvPr/>
        </p:nvSpPr>
        <p:spPr>
          <a:xfrm>
            <a:off x="6172200" y="3913632"/>
            <a:ext cx="52578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0EA5E9"/>
                </a:solidFill>
                <a:latin typeface="Arial"/>
              </a:defRPr>
            </a:pPr>
            <a:r>
              <a:t>难治靶点新突破</a:t>
            </a:r>
          </a:p>
          <a:p>
            <a:pPr>
              <a:defRPr sz="2200" b="1">
                <a:solidFill>
                  <a:srgbClr val="1E293B"/>
                </a:solidFill>
                <a:latin typeface="Arial"/>
              </a:defRPr>
            </a:pPr>
            <a:r>
              <a:t>KRAS G12C 突变与 HER2 改变精准靶向最新战局</a:t>
            </a:r>
          </a:p>
          <a:p>
            <a:pPr>
              <a:spcBef>
                <a:spcPts val="200"/>
              </a:spcBef>
              <a:defRPr sz="1100">
                <a:solidFill>
                  <a:srgbClr val="64748B"/>
                </a:solidFill>
                <a:latin typeface="Arial"/>
              </a:defRPr>
            </a:pPr>
            <a:r>
              <a:t>索托拉西布/阿达格拉西布开创KRAS靶向历史，T-DXd与宗格替尼打破HER2无药可医</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00">
                <a:solidFill>
                  <a:srgbClr val="94A3B8"/>
                </a:solidFill>
                <a:latin typeface="Arial"/>
              </a:defRPr>
            </a:pPr>
            <a:r>
              <a:t>2026年非小细胞肺癌（NSCLC）临床诊疗与前沿指南 | 循证源：PubMed / ClinicalTrials.gov                                                                Slide 15 / 22</a:t>
            </a:r>
          </a:p>
        </p:txBody>
      </p:sp>
      <p:sp>
        <p:nvSpPr>
          <p:cNvPr id="5" name="Rounded Rectangle 4"/>
          <p:cNvSpPr/>
          <p:nvPr/>
        </p:nvSpPr>
        <p:spPr>
          <a:xfrm>
            <a:off x="731520" y="1554480"/>
            <a:ext cx="521208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000"/>
              </a:spcAft>
              <a:defRPr sz="1300" b="1">
                <a:solidFill>
                  <a:srgbClr val="0EA5E9"/>
                </a:solidFill>
                <a:latin typeface="Arial"/>
              </a:defRPr>
            </a:pPr>
            <a:r>
              <a:t>KRAS G12C 抑制剂应用与一线探索</a:t>
            </a:r>
          </a:p>
          <a:p>
            <a:pPr>
              <a:spcAft>
                <a:spcPts val="200"/>
              </a:spcAft>
              <a:defRPr sz="1050" b="1">
                <a:solidFill>
                  <a:srgbClr val="1E293B"/>
                </a:solidFill>
                <a:latin typeface="Arial"/>
              </a:defRPr>
            </a:pPr>
            <a:r>
              <a:t>■ 二线标准获批药物</a:t>
            </a:r>
          </a:p>
          <a:p>
            <a:pPr>
              <a:spcAft>
                <a:spcPts val="600"/>
              </a:spcAft>
              <a:defRPr sz="950">
                <a:solidFill>
                  <a:srgbClr val="64748B"/>
                </a:solidFill>
                <a:latin typeface="Arial"/>
              </a:defRPr>
            </a:pPr>
            <a:r>
              <a:t>索托拉西布 (Sotorasib, CodeBreaK 200) 与 阿达格拉西布 (Adagrasib, KRYSTAL-1) 为经治患者标准用药，ORR 约为 37%~43%，中位 PFS 约为 6.5~6.9 个月。</a:t>
            </a:r>
          </a:p>
          <a:p>
            <a:pPr>
              <a:spcAft>
                <a:spcPts val="200"/>
              </a:spcAft>
              <a:defRPr sz="1050" b="1">
                <a:solidFill>
                  <a:srgbClr val="1E293B"/>
                </a:solidFill>
                <a:latin typeface="Arial"/>
              </a:defRPr>
            </a:pPr>
            <a:r>
              <a:t>■ 阿达格拉西布入脑优势</a:t>
            </a:r>
          </a:p>
          <a:p>
            <a:pPr>
              <a:spcAft>
                <a:spcPts val="600"/>
              </a:spcAft>
              <a:defRPr sz="950">
                <a:solidFill>
                  <a:srgbClr val="64748B"/>
                </a:solidFill>
                <a:latin typeface="Arial"/>
              </a:defRPr>
            </a:pPr>
            <a:r>
              <a:t>KRYSTAL-1 脑转移亚组证实其能够有效穿透血脑屏障，颅内 ORR 达 42%，中位颅内 PFS 达 5.4 个月。</a:t>
            </a:r>
          </a:p>
          <a:p>
            <a:pPr>
              <a:spcAft>
                <a:spcPts val="200"/>
              </a:spcAft>
              <a:defRPr sz="1050" b="1">
                <a:solidFill>
                  <a:srgbClr val="1E293B"/>
                </a:solidFill>
                <a:latin typeface="Arial"/>
              </a:defRPr>
            </a:pPr>
            <a:r>
              <a:t>■ 一线联合探索 (KRYSTAL-7 &amp; KRYSTAL-4)</a:t>
            </a:r>
          </a:p>
          <a:p>
            <a:pPr>
              <a:spcAft>
                <a:spcPts val="600"/>
              </a:spcAft>
              <a:defRPr sz="950">
                <a:solidFill>
                  <a:srgbClr val="64748B"/>
                </a:solidFill>
                <a:latin typeface="Arial"/>
              </a:defRPr>
            </a:pPr>
            <a:r>
              <a:t>正在开展的 Phase 3 注册研究（如 NCT04613596 / NCT06875310）：阿达格拉西布联合帕博利珠单抗 ± 化疗一线治疗 KRAS G12C 突变 NSCLC。</a:t>
            </a:r>
          </a:p>
          <a:p>
            <a:pPr>
              <a:spcAft>
                <a:spcPts val="200"/>
              </a:spcAft>
              <a:defRPr sz="1050" b="1">
                <a:solidFill>
                  <a:srgbClr val="1E293B"/>
                </a:solidFill>
                <a:latin typeface="Arial"/>
              </a:defRPr>
            </a:pPr>
            <a:r>
              <a:t>■ Pan-KRAS 与 RAS-ON 突破</a:t>
            </a:r>
          </a:p>
          <a:p>
            <a:pPr>
              <a:spcAft>
                <a:spcPts val="600"/>
              </a:spcAft>
              <a:defRPr sz="950">
                <a:solidFill>
                  <a:srgbClr val="64748B"/>
                </a:solidFill>
                <a:latin typeface="Arial"/>
              </a:defRPr>
            </a:pPr>
            <a:r>
              <a:t>面对 G12D、G12V 耐药突变，全新 RAS(ON) 多靶点抑制剂（如 RMC-6236）已展现出强劲跨亚型抗肿瘤活性。</a:t>
            </a:r>
          </a:p>
        </p:txBody>
      </p:sp>
      <p:sp>
        <p:nvSpPr>
          <p:cNvPr id="6" name="Rounded Rectangle 5"/>
          <p:cNvSpPr/>
          <p:nvPr/>
        </p:nvSpPr>
        <p:spPr>
          <a:xfrm>
            <a:off x="6217920" y="1554480"/>
            <a:ext cx="521208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000"/>
              </a:spcAft>
              <a:defRPr sz="1300" b="1">
                <a:solidFill>
                  <a:srgbClr val="6366F1"/>
                </a:solidFill>
                <a:latin typeface="Arial"/>
              </a:defRPr>
            </a:pPr>
            <a:r>
              <a:t>HER2 (ERBB2) 突变与过表达前沿格局</a:t>
            </a:r>
          </a:p>
          <a:p>
            <a:pPr>
              <a:spcAft>
                <a:spcPts val="200"/>
              </a:spcAft>
              <a:defRPr sz="1050" b="1">
                <a:solidFill>
                  <a:srgbClr val="1E293B"/>
                </a:solidFill>
                <a:latin typeface="Arial"/>
              </a:defRPr>
            </a:pPr>
            <a:r>
              <a:t>★ 抗体偶联药物金标准：T-DXd</a:t>
            </a:r>
          </a:p>
          <a:p>
            <a:pPr>
              <a:spcAft>
                <a:spcPts val="600"/>
              </a:spcAft>
              <a:defRPr sz="950">
                <a:solidFill>
                  <a:srgbClr val="64748B"/>
                </a:solidFill>
                <a:latin typeface="Arial"/>
              </a:defRPr>
            </a:pPr>
            <a:r>
              <a:t>德曲妥珠单抗 (Trastuzumab Deruxtecan, 5.4 mg/kg Q3W) 在 DESTINY-Lung02 试验中确证 ORR 达 49.0%~53.8%，中位缓解持续时间 (DoR) 达 16.8 个月，成为全球指南首选推荐。</a:t>
            </a:r>
          </a:p>
          <a:p>
            <a:pPr>
              <a:spcAft>
                <a:spcPts val="200"/>
              </a:spcAft>
              <a:defRPr sz="1050" b="1">
                <a:solidFill>
                  <a:srgbClr val="1E293B"/>
                </a:solidFill>
                <a:latin typeface="Arial"/>
              </a:defRPr>
            </a:pPr>
            <a:r>
              <a:t>★ 口服选择性 TKI 新锐：宗格替尼</a:t>
            </a:r>
          </a:p>
          <a:p>
            <a:pPr>
              <a:spcAft>
                <a:spcPts val="600"/>
              </a:spcAft>
              <a:defRPr sz="950">
                <a:solidFill>
                  <a:srgbClr val="64748B"/>
                </a:solidFill>
                <a:latin typeface="Arial"/>
              </a:defRPr>
            </a:pPr>
            <a:r>
              <a:t>Zongertinib (Beamion LUNG-1 试验，NEJM 2025)：新型口服不可逆高选择性 HER2-TKI，初治及经治队列 ORR 达 66.7%~72.4%，极好规避了传统野生型 EGFR 毒性（皮疹与腹泻极少）。</a:t>
            </a:r>
          </a:p>
          <a:p>
            <a:pPr>
              <a:spcAft>
                <a:spcPts val="200"/>
              </a:spcAft>
              <a:defRPr sz="1050" b="1">
                <a:solidFill>
                  <a:srgbClr val="1E293B"/>
                </a:solidFill>
                <a:latin typeface="Arial"/>
              </a:defRPr>
            </a:pPr>
            <a:r>
              <a:t>★ 一线联合试验推进 (NCT06899126)</a:t>
            </a:r>
          </a:p>
          <a:p>
            <a:pPr>
              <a:spcAft>
                <a:spcPts val="600"/>
              </a:spcAft>
              <a:defRPr sz="950">
                <a:solidFill>
                  <a:srgbClr val="64748B"/>
                </a:solidFill>
                <a:latin typeface="Arial"/>
              </a:defRPr>
            </a:pPr>
            <a:r>
              <a:t>Phase 3 全球研究正评估 T-DXd 联合帕博利珠单抗及化疗一线治疗 HER2 过表达/突变晚期 NSCLC。</a:t>
            </a:r>
          </a:p>
          <a:p>
            <a:pPr>
              <a:spcAft>
                <a:spcPts val="200"/>
              </a:spcAft>
              <a:defRPr sz="1050" b="1">
                <a:solidFill>
                  <a:srgbClr val="1E293B"/>
                </a:solidFill>
                <a:latin typeface="Arial"/>
              </a:defRPr>
            </a:pPr>
            <a:r>
              <a:t>★ 关键毒性监测</a:t>
            </a:r>
          </a:p>
          <a:p>
            <a:pPr>
              <a:spcAft>
                <a:spcPts val="600"/>
              </a:spcAft>
              <a:defRPr sz="950">
                <a:solidFill>
                  <a:srgbClr val="64748B"/>
                </a:solidFill>
                <a:latin typeface="Arial"/>
              </a:defRPr>
            </a:pPr>
            <a:r>
              <a:t>使用 T-DXd 必须高度警惕间质性肺疾病/肺炎 (ILD)，严密随访肺部症状及高分辨 CT。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0EA5E9"/>
                </a:solidFill>
                <a:latin typeface="Arial"/>
              </a:defRPr>
            </a:pPr>
            <a:r>
              <a:t>驱动基因阴性免疫治疗</a:t>
            </a:r>
          </a:p>
          <a:p>
            <a:pPr>
              <a:defRPr sz="2200" b="1">
                <a:solidFill>
                  <a:srgbClr val="1E293B"/>
                </a:solidFill>
                <a:latin typeface="Arial"/>
              </a:defRPr>
            </a:pPr>
            <a:r>
              <a:t>驱动基因阴性/野生型晚期一线免疫治疗规范与分层决策</a:t>
            </a:r>
          </a:p>
          <a:p>
            <a:pPr>
              <a:spcBef>
                <a:spcPts val="200"/>
              </a:spcBef>
              <a:defRPr sz="1100">
                <a:solidFill>
                  <a:srgbClr val="64748B"/>
                </a:solidFill>
                <a:latin typeface="Arial"/>
              </a:defRPr>
            </a:pPr>
            <a:r>
              <a:t>根据 PD-L1 TPS 表达水平实施单药免疫、免疫联合化疗或双重免疫联合化疗</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00">
                <a:solidFill>
                  <a:srgbClr val="94A3B8"/>
                </a:solidFill>
                <a:latin typeface="Arial"/>
              </a:defRPr>
            </a:pPr>
            <a:r>
              <a:t>2026年非小细胞肺癌（NSCLC）临床诊疗与前沿指南 | 循证源：PubMed / ClinicalTrials.gov                                                                Slide 16 / 22</a:t>
            </a:r>
          </a:p>
        </p:txBody>
      </p:sp>
      <p:sp>
        <p:nvSpPr>
          <p:cNvPr id="5" name="Rounded Rectangle 4"/>
          <p:cNvSpPr/>
          <p:nvPr/>
        </p:nvSpPr>
        <p:spPr>
          <a:xfrm>
            <a:off x="731520" y="1554480"/>
            <a:ext cx="3456432"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spcAft>
                <a:spcPts val="1400"/>
              </a:spcAft>
              <a:defRPr sz="1200" b="1">
                <a:solidFill>
                  <a:srgbClr val="0EA5E9"/>
                </a:solidFill>
                <a:latin typeface="Arial"/>
              </a:defRPr>
            </a:pPr>
            <a:r>
              <a:t>PD-L1 TPS ≥ 50% (高表达亚群)</a:t>
            </a:r>
          </a:p>
          <a:p>
            <a:pPr>
              <a:spcAft>
                <a:spcPts val="800"/>
              </a:spcAft>
              <a:defRPr sz="1000">
                <a:solidFill>
                  <a:srgbClr val="1E293B"/>
                </a:solidFill>
                <a:latin typeface="Arial"/>
              </a:defRPr>
            </a:pPr>
            <a:r>
              <a:t>• 双抗单药新颠覆：依沃西单抗 (HARMONi-2) 展现超越K药单药疗效</a:t>
            </a:r>
          </a:p>
          <a:p>
            <a:pPr>
              <a:spcAft>
                <a:spcPts val="800"/>
              </a:spcAft>
              <a:defRPr sz="1000">
                <a:solidFill>
                  <a:srgbClr val="1E293B"/>
                </a:solidFill>
                <a:latin typeface="Arial"/>
              </a:defRPr>
            </a:pPr>
            <a:r>
              <a:t>• 单免标杆：帕博利珠单抗 (KEYNOTE-024 5年OS 31.9%)</a:t>
            </a:r>
          </a:p>
          <a:p>
            <a:pPr>
              <a:spcAft>
                <a:spcPts val="800"/>
              </a:spcAft>
              <a:defRPr sz="1000">
                <a:solidFill>
                  <a:srgbClr val="1E293B"/>
                </a:solidFill>
                <a:latin typeface="Arial"/>
              </a:defRPr>
            </a:pPr>
            <a:r>
              <a:t>• 单免备选：阿替利珠单抗 (IMpower110)、西米普利单抗</a:t>
            </a:r>
          </a:p>
          <a:p>
            <a:pPr>
              <a:spcAft>
                <a:spcPts val="800"/>
              </a:spcAft>
              <a:defRPr sz="1000">
                <a:solidFill>
                  <a:srgbClr val="1E293B"/>
                </a:solidFill>
                <a:latin typeface="Arial"/>
              </a:defRPr>
            </a:pPr>
            <a:r>
              <a:t>• 高肿瘤负荷/伴症状：首选免疫联合含铂化疗以加速缩小肿瘤</a:t>
            </a:r>
          </a:p>
          <a:p>
            <a:pPr>
              <a:spcAft>
                <a:spcPts val="800"/>
              </a:spcAft>
              <a:defRPr sz="1000">
                <a:solidFill>
                  <a:srgbClr val="1E293B"/>
                </a:solidFill>
                <a:latin typeface="Arial"/>
              </a:defRPr>
            </a:pPr>
            <a:r>
              <a:t>• 毒性特征：单药免疫毒性显著低于化疗联合方案</a:t>
            </a:r>
          </a:p>
        </p:txBody>
      </p:sp>
      <p:sp>
        <p:nvSpPr>
          <p:cNvPr id="6" name="Rectangle 5"/>
          <p:cNvSpPr/>
          <p:nvPr/>
        </p:nvSpPr>
        <p:spPr>
          <a:xfrm>
            <a:off x="731520" y="1554480"/>
            <a:ext cx="3456432" cy="10972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370832" y="1554480"/>
            <a:ext cx="3456432"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spcAft>
                <a:spcPts val="1400"/>
              </a:spcAft>
              <a:defRPr sz="1200" b="1">
                <a:solidFill>
                  <a:srgbClr val="6366F1"/>
                </a:solidFill>
                <a:latin typeface="Arial"/>
              </a:defRPr>
            </a:pPr>
            <a:r>
              <a:t>PD-L1 TPS 1% ~ 49% (低表达亚群)</a:t>
            </a:r>
          </a:p>
          <a:p>
            <a:pPr>
              <a:spcAft>
                <a:spcPts val="800"/>
              </a:spcAft>
              <a:defRPr sz="1000">
                <a:solidFill>
                  <a:srgbClr val="1E293B"/>
                </a:solidFill>
                <a:latin typeface="Arial"/>
              </a:defRPr>
            </a:pPr>
            <a:r>
              <a:t>• 核心基石方案：免疫联合含铂双药化疗</a:t>
            </a:r>
          </a:p>
          <a:p>
            <a:pPr>
              <a:spcAft>
                <a:spcPts val="800"/>
              </a:spcAft>
              <a:defRPr sz="1000">
                <a:solidFill>
                  <a:srgbClr val="1E293B"/>
                </a:solidFill>
                <a:latin typeface="Arial"/>
              </a:defRPr>
            </a:pPr>
            <a:r>
              <a:t>• 非鳞癌：帕博利珠单抗 + 培美曲塞 + 卡铂/顺铂 (KEYNOTE-189) → 帕博利珠+培美曲塞维持</a:t>
            </a:r>
          </a:p>
          <a:p>
            <a:pPr>
              <a:spcAft>
                <a:spcPts val="800"/>
              </a:spcAft>
              <a:defRPr sz="1000">
                <a:solidFill>
                  <a:srgbClr val="1E293B"/>
                </a:solidFill>
                <a:latin typeface="Arial"/>
              </a:defRPr>
            </a:pPr>
            <a:r>
              <a:t>• 鳞癌：帕博利珠单抗 + 紫杉醇/白紫 + 卡铂 (KEYNOTE-407)</a:t>
            </a:r>
          </a:p>
          <a:p>
            <a:pPr>
              <a:spcAft>
                <a:spcPts val="800"/>
              </a:spcAft>
              <a:defRPr sz="1000">
                <a:solidFill>
                  <a:srgbClr val="1E293B"/>
                </a:solidFill>
                <a:latin typeface="Arial"/>
              </a:defRPr>
            </a:pPr>
            <a:r>
              <a:t>• 国产自主方案：信迪利单抗 (ORIENT-11/12)、替雷利珠单抗 (RATIONALE-304/307) 等</a:t>
            </a:r>
          </a:p>
        </p:txBody>
      </p:sp>
      <p:sp>
        <p:nvSpPr>
          <p:cNvPr id="8" name="Rectangle 7"/>
          <p:cNvSpPr/>
          <p:nvPr/>
        </p:nvSpPr>
        <p:spPr>
          <a:xfrm>
            <a:off x="4370832" y="1554480"/>
            <a:ext cx="3456432" cy="10972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10144" y="1554480"/>
            <a:ext cx="3456432"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spcAft>
                <a:spcPts val="1400"/>
              </a:spcAft>
              <a:defRPr sz="1200" b="1">
                <a:solidFill>
                  <a:srgbClr val="F43F5E"/>
                </a:solidFill>
                <a:latin typeface="Arial"/>
              </a:defRPr>
            </a:pPr>
            <a:r>
              <a:t>PD-L1 TPS &lt; 1% (阴性亚群)</a:t>
            </a:r>
          </a:p>
          <a:p>
            <a:pPr>
              <a:spcAft>
                <a:spcPts val="800"/>
              </a:spcAft>
              <a:defRPr sz="1000">
                <a:solidFill>
                  <a:srgbClr val="1E293B"/>
                </a:solidFill>
                <a:latin typeface="Arial"/>
              </a:defRPr>
            </a:pPr>
            <a:r>
              <a:t>• 免疫敏感性较低，严禁采用单药免疫治疗！</a:t>
            </a:r>
          </a:p>
          <a:p>
            <a:pPr>
              <a:spcAft>
                <a:spcPts val="800"/>
              </a:spcAft>
              <a:defRPr sz="1000">
                <a:solidFill>
                  <a:srgbClr val="1E293B"/>
                </a:solidFill>
                <a:latin typeface="Arial"/>
              </a:defRPr>
            </a:pPr>
            <a:r>
              <a:t>• 首选方案：免疫联合含铂化疗（KEYNOTE-189/407）</a:t>
            </a:r>
          </a:p>
          <a:p>
            <a:pPr>
              <a:spcAft>
                <a:spcPts val="800"/>
              </a:spcAft>
              <a:defRPr sz="1000">
                <a:solidFill>
                  <a:srgbClr val="1E293B"/>
                </a:solidFill>
                <a:latin typeface="Arial"/>
              </a:defRPr>
            </a:pPr>
            <a:r>
              <a:t>• 双免加限期化疗模式：纳武利尤单抗 + 伊匹木单抗 + 2周期化疗 (CheckMate-9LA)，在PD-L1阴性人群中生存获益独特</a:t>
            </a:r>
          </a:p>
          <a:p>
            <a:pPr>
              <a:spcAft>
                <a:spcPts val="800"/>
              </a:spcAft>
              <a:defRPr sz="1000">
                <a:solidFill>
                  <a:srgbClr val="1E293B"/>
                </a:solidFill>
                <a:latin typeface="Arial"/>
              </a:defRPr>
            </a:pPr>
            <a:r>
              <a:t>• POSEIDON 方案：度伐利尤单抗 + 替西木单抗 (Tremelimumab) + 化疗</a:t>
            </a:r>
          </a:p>
        </p:txBody>
      </p:sp>
      <p:sp>
        <p:nvSpPr>
          <p:cNvPr id="10" name="Rectangle 9"/>
          <p:cNvSpPr/>
          <p:nvPr/>
        </p:nvSpPr>
        <p:spPr>
          <a:xfrm>
            <a:off x="8010144" y="1554480"/>
            <a:ext cx="3456432" cy="109728"/>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0EA5E9"/>
                </a:solidFill>
                <a:latin typeface="Arial"/>
              </a:defRPr>
            </a:pPr>
            <a:r>
              <a:t>双特异性抗体革命</a:t>
            </a:r>
          </a:p>
          <a:p>
            <a:pPr>
              <a:defRPr sz="2200" b="1">
                <a:solidFill>
                  <a:srgbClr val="1E293B"/>
                </a:solidFill>
                <a:latin typeface="Arial"/>
              </a:defRPr>
            </a:pPr>
            <a:r>
              <a:t>双抗临床历史性突破：依沃西单抗 HARMONi-2 击败帕博利珠单抗</a:t>
            </a:r>
          </a:p>
          <a:p>
            <a:pPr>
              <a:spcBef>
                <a:spcPts val="200"/>
              </a:spcBef>
              <a:defRPr sz="1100">
                <a:solidFill>
                  <a:srgbClr val="64748B"/>
                </a:solidFill>
                <a:latin typeface="Arial"/>
              </a:defRPr>
            </a:pPr>
            <a:r>
              <a:t>全球首个在随机III期头对头中超越K药的双抗新药，开启PD-1/VEGF双通路协同治疗时代</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00">
                <a:solidFill>
                  <a:srgbClr val="94A3B8"/>
                </a:solidFill>
                <a:latin typeface="Arial"/>
              </a:defRPr>
            </a:pPr>
            <a:r>
              <a:t>2026年非小细胞肺癌（NSCLC）临床诊疗与前沿指南 | 循证源：PubMed / ClinicalTrials.gov                                                                Slide 17 / 22</a:t>
            </a:r>
          </a:p>
        </p:txBody>
      </p:sp>
      <p:sp>
        <p:nvSpPr>
          <p:cNvPr id="5" name="Rounded Rectangle 4"/>
          <p:cNvSpPr/>
          <p:nvPr/>
        </p:nvSpPr>
        <p:spPr>
          <a:xfrm>
            <a:off x="731520" y="1554480"/>
            <a:ext cx="521208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000"/>
              </a:spcAft>
              <a:defRPr sz="1300" b="1">
                <a:solidFill>
                  <a:srgbClr val="F43F5E"/>
                </a:solidFill>
                <a:latin typeface="Arial"/>
              </a:defRPr>
            </a:pPr>
            <a:r>
              <a:t>HARMONi-2 研究核心数据 (Lancet 2025, PMID: 40057343)</a:t>
            </a:r>
          </a:p>
          <a:p>
            <a:pPr>
              <a:spcAft>
                <a:spcPts val="200"/>
              </a:spcAft>
              <a:defRPr sz="1050" b="1">
                <a:solidFill>
                  <a:srgbClr val="1E293B"/>
                </a:solidFill>
                <a:latin typeface="Arial"/>
              </a:defRPr>
            </a:pPr>
            <a:r>
              <a:t>★ 试验设计与人群</a:t>
            </a:r>
          </a:p>
          <a:p>
            <a:pPr>
              <a:spcAft>
                <a:spcPts val="600"/>
              </a:spcAft>
              <a:defRPr sz="950">
                <a:solidFill>
                  <a:srgbClr val="64748B"/>
                </a:solidFill>
                <a:latin typeface="Arial"/>
              </a:defRPr>
            </a:pPr>
            <a:r>
              <a:t>随机、双盲、头对头 Phase 3 研究，纳入初治 PD-L1 阳性 (TPS ≥ 1%) 局部晚期或转移性 NSCLC，对比依沃西单抗 (AK112, 20mg/kg Q3W) vs 帕博利珠单抗单药。</a:t>
            </a:r>
          </a:p>
          <a:p>
            <a:pPr>
              <a:spcAft>
                <a:spcPts val="200"/>
              </a:spcAft>
              <a:defRPr sz="1050" b="1">
                <a:solidFill>
                  <a:srgbClr val="1E293B"/>
                </a:solidFill>
                <a:latin typeface="Arial"/>
              </a:defRPr>
            </a:pPr>
            <a:r>
              <a:t>★ 无进展生存期 (PFS) 翻倍</a:t>
            </a:r>
          </a:p>
          <a:p>
            <a:pPr>
              <a:spcAft>
                <a:spcPts val="600"/>
              </a:spcAft>
              <a:defRPr sz="950">
                <a:solidFill>
                  <a:srgbClr val="64748B"/>
                </a:solidFill>
                <a:latin typeface="Arial"/>
              </a:defRPr>
            </a:pPr>
            <a:r>
              <a:t>依沃西单抗组中位 PFS 达到 11.14 个月，帕博利珠单抗组为 5.82 个月，疾病进展或死亡风险惊人降低 49% (HR = 0.51, 95% CI 0.38-0.69, P &lt; 0.0001)！</a:t>
            </a:r>
          </a:p>
          <a:p>
            <a:pPr>
              <a:spcAft>
                <a:spcPts val="200"/>
              </a:spcAft>
              <a:defRPr sz="1050" b="1">
                <a:solidFill>
                  <a:srgbClr val="1E293B"/>
                </a:solidFill>
                <a:latin typeface="Arial"/>
              </a:defRPr>
            </a:pPr>
            <a:r>
              <a:t>★ 各亚组全线大胜</a:t>
            </a:r>
          </a:p>
          <a:p>
            <a:pPr>
              <a:spcAft>
                <a:spcPts val="600"/>
              </a:spcAft>
              <a:defRPr sz="950">
                <a:solidFill>
                  <a:srgbClr val="64748B"/>
                </a:solidFill>
                <a:latin typeface="Arial"/>
              </a:defRPr>
            </a:pPr>
            <a:r>
              <a:t>无论 PD-L1 1%~49% (HR=0.54) 还是 TPS ≥ 50% (HR=0.46)；无论鳞癌 (HR=0.48) 还是非鳞癌 (HR=0.54)；伴脑转移患者 (HR=0.55)，依沃西单抗均体现绝对优势。</a:t>
            </a:r>
          </a:p>
          <a:p>
            <a:pPr>
              <a:spcAft>
                <a:spcPts val="200"/>
              </a:spcAft>
              <a:defRPr sz="1050" b="1">
                <a:solidFill>
                  <a:srgbClr val="1E293B"/>
                </a:solidFill>
                <a:latin typeface="Arial"/>
              </a:defRPr>
            </a:pPr>
            <a:r>
              <a:t>★ 双靶协同机制</a:t>
            </a:r>
          </a:p>
          <a:p>
            <a:pPr>
              <a:spcAft>
                <a:spcPts val="600"/>
              </a:spcAft>
              <a:defRPr sz="950">
                <a:solidFill>
                  <a:srgbClr val="64748B"/>
                </a:solidFill>
                <a:latin typeface="Arial"/>
              </a:defRPr>
            </a:pPr>
            <a:r>
              <a:t>特异性结合 PD-1 与 VEGF，高浓度 VEGF 存在下对 PD-1 亲和力提升十倍以上，实现免疫激活与抗血管微环境重塑双重增效。</a:t>
            </a:r>
          </a:p>
        </p:txBody>
      </p:sp>
      <p:sp>
        <p:nvSpPr>
          <p:cNvPr id="6" name="Rounded Rectangle 5"/>
          <p:cNvSpPr/>
          <p:nvPr/>
        </p:nvSpPr>
        <p:spPr>
          <a:xfrm>
            <a:off x="6217920" y="1554480"/>
            <a:ext cx="521208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000"/>
              </a:spcAft>
              <a:defRPr sz="1300" b="1">
                <a:solidFill>
                  <a:srgbClr val="0EA5E9"/>
                </a:solidFill>
                <a:latin typeface="Arial"/>
              </a:defRPr>
            </a:pPr>
            <a:r>
              <a:t>双抗全球关键临床试验推进矩阵</a:t>
            </a:r>
          </a:p>
          <a:p>
            <a:pPr>
              <a:spcAft>
                <a:spcPts val="200"/>
              </a:spcAft>
              <a:defRPr sz="1050" b="1">
                <a:solidFill>
                  <a:srgbClr val="1E293B"/>
                </a:solidFill>
                <a:latin typeface="Arial"/>
              </a:defRPr>
            </a:pPr>
            <a:r>
              <a:t>▶ HARMONi-3 (NCT05899608)</a:t>
            </a:r>
          </a:p>
          <a:p>
            <a:pPr>
              <a:spcAft>
                <a:spcPts val="600"/>
              </a:spcAft>
              <a:defRPr sz="950">
                <a:solidFill>
                  <a:srgbClr val="64748B"/>
                </a:solidFill>
                <a:latin typeface="Arial"/>
              </a:defRPr>
            </a:pPr>
            <a:r>
              <a:t>全球多中心 Phase 3：依沃西单抗联合化疗对比帕博利珠单抗联合化疗一线治疗晚期鳞状与非鳞状 NSCLC。</a:t>
            </a:r>
          </a:p>
          <a:p>
            <a:pPr>
              <a:spcAft>
                <a:spcPts val="200"/>
              </a:spcAft>
              <a:defRPr sz="1050" b="1">
                <a:solidFill>
                  <a:srgbClr val="1E293B"/>
                </a:solidFill>
                <a:latin typeface="Arial"/>
              </a:defRPr>
            </a:pPr>
            <a:r>
              <a:t>▶ HARMONi-7 (NCT06767514)</a:t>
            </a:r>
          </a:p>
          <a:p>
            <a:pPr>
              <a:spcAft>
                <a:spcPts val="600"/>
              </a:spcAft>
              <a:defRPr sz="950">
                <a:solidFill>
                  <a:srgbClr val="64748B"/>
                </a:solidFill>
                <a:latin typeface="Arial"/>
              </a:defRPr>
            </a:pPr>
            <a:r>
              <a:t>全球多中心 Phase 3：依沃西单抗单药对比帕博利珠单抗单药一线治疗 PD-L1 高表达 (TPS ≥ 50%) 转移性 NSCLC。</a:t>
            </a:r>
          </a:p>
          <a:p>
            <a:pPr>
              <a:spcAft>
                <a:spcPts val="200"/>
              </a:spcAft>
              <a:defRPr sz="1050" b="1">
                <a:solidFill>
                  <a:srgbClr val="1E293B"/>
                </a:solidFill>
                <a:latin typeface="Arial"/>
              </a:defRPr>
            </a:pPr>
            <a:r>
              <a:t>▶ 埃万妥单抗 (Amivantamab)</a:t>
            </a:r>
          </a:p>
          <a:p>
            <a:pPr>
              <a:spcAft>
                <a:spcPts val="600"/>
              </a:spcAft>
              <a:defRPr sz="950">
                <a:solidFill>
                  <a:srgbClr val="64748B"/>
                </a:solidFill>
                <a:latin typeface="Arial"/>
              </a:defRPr>
            </a:pPr>
            <a:r>
              <a:t>EGFR/c-MET 双抗全面拓展：一线 MARIPOSA、20ins PAPILLON、耐药后 MARIPOSA-2；PALOMA-3 皮下注射剂型已成功解决输注反应难题。</a:t>
            </a:r>
          </a:p>
          <a:p>
            <a:pPr>
              <a:spcAft>
                <a:spcPts val="200"/>
              </a:spcAft>
              <a:defRPr sz="1050" b="1">
                <a:solidFill>
                  <a:srgbClr val="1E293B"/>
                </a:solidFill>
                <a:latin typeface="Arial"/>
              </a:defRPr>
            </a:pPr>
            <a:r>
              <a:t>▶ Rilvegostomig &amp; 卡度尼利</a:t>
            </a:r>
          </a:p>
          <a:p>
            <a:pPr>
              <a:spcAft>
                <a:spcPts val="600"/>
              </a:spcAft>
              <a:defRPr sz="950">
                <a:solidFill>
                  <a:srgbClr val="64748B"/>
                </a:solidFill>
                <a:latin typeface="Arial"/>
              </a:defRPr>
            </a:pPr>
            <a:r>
              <a:t>Rilvegostomig (PD-1/TIGIT 双抗) 联合 Dato-DXd 一线探索；卡度尼利 (PD-1/CTLA-4 双抗) 晚期全面推进。</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0EA5E9"/>
                </a:solidFill>
                <a:latin typeface="Arial"/>
              </a:defRPr>
            </a:pPr>
            <a:r>
              <a:t>抗体偶联药物（ADC）前沿</a:t>
            </a:r>
          </a:p>
          <a:p>
            <a:pPr>
              <a:defRPr sz="2200" b="1">
                <a:solidFill>
                  <a:srgbClr val="1E293B"/>
                </a:solidFill>
                <a:latin typeface="Arial"/>
              </a:defRPr>
            </a:pPr>
            <a:r>
              <a:t>抗体偶联药物（ADC）全景：跨越耐药与驱动基因阴性边界</a:t>
            </a:r>
          </a:p>
          <a:p>
            <a:pPr>
              <a:spcBef>
                <a:spcPts val="200"/>
              </a:spcBef>
              <a:defRPr sz="1100">
                <a:solidFill>
                  <a:srgbClr val="64748B"/>
                </a:solidFill>
                <a:latin typeface="Arial"/>
              </a:defRPr>
            </a:pPr>
            <a:r>
              <a:t>以TROP2、HER2、HER3、c-MET及双抗ADC为代表的新型靶向化疗精准递送系统</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00">
                <a:solidFill>
                  <a:srgbClr val="94A3B8"/>
                </a:solidFill>
                <a:latin typeface="Arial"/>
              </a:defRPr>
            </a:pPr>
            <a:r>
              <a:t>2026年非小细胞肺癌（NSCLC）临床诊疗与前沿指南 | 循证源：PubMed / ClinicalTrials.gov                                                                Slide 18 / 22</a:t>
            </a:r>
          </a:p>
        </p:txBody>
      </p:sp>
      <p:sp>
        <p:nvSpPr>
          <p:cNvPr id="5" name="Rounded Rectangle 4"/>
          <p:cNvSpPr/>
          <p:nvPr/>
        </p:nvSpPr>
        <p:spPr>
          <a:xfrm>
            <a:off x="731520" y="1554480"/>
            <a:ext cx="525780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600"/>
              </a:spcAft>
              <a:defRPr sz="1150" b="1">
                <a:solidFill>
                  <a:srgbClr val="0EA5E9"/>
                </a:solidFill>
                <a:latin typeface="Arial"/>
              </a:defRPr>
            </a:pPr>
            <a:r>
              <a:t>TROP2-ADC: Datopotamab Deruxtecan (Dato-DXd)</a:t>
            </a:r>
          </a:p>
          <a:p>
            <a:pPr>
              <a:spcAft>
                <a:spcPts val="400"/>
              </a:spcAft>
              <a:defRPr sz="950">
                <a:solidFill>
                  <a:srgbClr val="1E293B"/>
                </a:solidFill>
                <a:latin typeface="Arial"/>
              </a:defRPr>
            </a:pPr>
            <a:r>
              <a:t>• 采用德曲妥珠平台顶级拓扑异构酶 I 毒素 (DXd)，高DAR值与强旁观者效应</a:t>
            </a:r>
          </a:p>
          <a:p>
            <a:pPr>
              <a:spcAft>
                <a:spcPts val="400"/>
              </a:spcAft>
              <a:defRPr sz="950">
                <a:solidFill>
                  <a:srgbClr val="1E293B"/>
                </a:solidFill>
                <a:latin typeface="Arial"/>
              </a:defRPr>
            </a:pPr>
            <a:r>
              <a:t>• TROPION-Lung01: 经治非鳞状 NSCLC 展现出显著 PFS 与 OS 改善</a:t>
            </a:r>
          </a:p>
          <a:p>
            <a:pPr>
              <a:spcAft>
                <a:spcPts val="400"/>
              </a:spcAft>
              <a:defRPr sz="950">
                <a:solidFill>
                  <a:srgbClr val="1E293B"/>
                </a:solidFill>
                <a:latin typeface="Arial"/>
              </a:defRPr>
            </a:pPr>
            <a:r>
              <a:t>• 一线 Phase 3 布局：NCT06350097 (联合奥希替尼), NCT06357533 (联合双抗)</a:t>
            </a:r>
          </a:p>
        </p:txBody>
      </p:sp>
      <p:sp>
        <p:nvSpPr>
          <p:cNvPr id="6" name="Rectangle 5"/>
          <p:cNvSpPr/>
          <p:nvPr/>
        </p:nvSpPr>
        <p:spPr>
          <a:xfrm>
            <a:off x="731520" y="1554480"/>
            <a:ext cx="525780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172200" y="1554480"/>
            <a:ext cx="525780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600"/>
              </a:spcAft>
              <a:defRPr sz="1150" b="1">
                <a:solidFill>
                  <a:srgbClr val="6366F1"/>
                </a:solidFill>
                <a:latin typeface="Arial"/>
              </a:defRPr>
            </a:pPr>
            <a:r>
              <a:t>TROP2-ADC: Sacituzumab Tirumotecan (MK-2870)</a:t>
            </a:r>
          </a:p>
          <a:p>
            <a:pPr>
              <a:spcAft>
                <a:spcPts val="400"/>
              </a:spcAft>
              <a:defRPr sz="950">
                <a:solidFill>
                  <a:srgbClr val="1E293B"/>
                </a:solidFill>
                <a:latin typeface="Arial"/>
              </a:defRPr>
            </a:pPr>
            <a:r>
              <a:t>• 创新自主连接子与喜树碱类毒素分子，在肺鳞癌与腺癌中活性均衡</a:t>
            </a:r>
          </a:p>
          <a:p>
            <a:pPr>
              <a:spcAft>
                <a:spcPts val="400"/>
              </a:spcAft>
              <a:defRPr sz="950">
                <a:solidFill>
                  <a:srgbClr val="1E293B"/>
                </a:solidFill>
                <a:latin typeface="Arial"/>
              </a:defRPr>
            </a:pPr>
            <a:r>
              <a:t>• NCT06170788 (MK-2870-007): 联合帕博利珠单抗一线治疗 PD-L1 ≥ 50% NSCLC</a:t>
            </a:r>
          </a:p>
          <a:p>
            <a:pPr>
              <a:spcAft>
                <a:spcPts val="400"/>
              </a:spcAft>
              <a:defRPr sz="950">
                <a:solidFill>
                  <a:srgbClr val="1E293B"/>
                </a:solidFill>
                <a:latin typeface="Arial"/>
              </a:defRPr>
            </a:pPr>
            <a:r>
              <a:t>• NCT06312137: 可手术未达 pCR (non-pCR) 术后辅助强化治疗</a:t>
            </a:r>
          </a:p>
        </p:txBody>
      </p:sp>
      <p:sp>
        <p:nvSpPr>
          <p:cNvPr id="8" name="Rectangle 7"/>
          <p:cNvSpPr/>
          <p:nvPr/>
        </p:nvSpPr>
        <p:spPr>
          <a:xfrm>
            <a:off x="6172200" y="1554480"/>
            <a:ext cx="5257800" cy="7315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3913632"/>
            <a:ext cx="525780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600"/>
              </a:spcAft>
              <a:defRPr sz="1150" b="1">
                <a:solidFill>
                  <a:srgbClr val="10B981"/>
                </a:solidFill>
                <a:latin typeface="Arial"/>
              </a:defRPr>
            </a:pPr>
            <a:r>
              <a:t>HER2 / HER3 / c-MET 靶向 ADC 梯队</a:t>
            </a:r>
          </a:p>
          <a:p>
            <a:pPr>
              <a:spcAft>
                <a:spcPts val="400"/>
              </a:spcAft>
              <a:defRPr sz="950">
                <a:solidFill>
                  <a:srgbClr val="1E293B"/>
                </a:solidFill>
                <a:latin typeface="Arial"/>
              </a:defRPr>
            </a:pPr>
            <a:r>
              <a:t>• T-DXd: DESTINY-Lung02 确证 HER2 突变高缓解率 (ORR ~50%)</a:t>
            </a:r>
          </a:p>
          <a:p>
            <a:pPr>
              <a:spcAft>
                <a:spcPts val="400"/>
              </a:spcAft>
              <a:defRPr sz="950">
                <a:solidFill>
                  <a:srgbClr val="1E293B"/>
                </a:solidFill>
                <a:latin typeface="Arial"/>
              </a:defRPr>
            </a:pPr>
            <a:r>
              <a:t>• Patritumab Deruxtecan (HER3-DXd): HERTHENA-Lung01 突破 EGFR-TKI 耐药</a:t>
            </a:r>
          </a:p>
          <a:p>
            <a:pPr>
              <a:spcAft>
                <a:spcPts val="400"/>
              </a:spcAft>
              <a:defRPr sz="950">
                <a:solidFill>
                  <a:srgbClr val="1E293B"/>
                </a:solidFill>
                <a:latin typeface="Arial"/>
              </a:defRPr>
            </a:pPr>
            <a:r>
              <a:t>• Telisotuzumab Vedotin (Teliso-V): LUMINOSITY 攻克 c-MET 过表达非鳞癌</a:t>
            </a:r>
          </a:p>
        </p:txBody>
      </p:sp>
      <p:sp>
        <p:nvSpPr>
          <p:cNvPr id="10" name="Rectangle 9"/>
          <p:cNvSpPr/>
          <p:nvPr/>
        </p:nvSpPr>
        <p:spPr>
          <a:xfrm>
            <a:off x="731520" y="3913632"/>
            <a:ext cx="525780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72200" y="3913632"/>
            <a:ext cx="525780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600"/>
              </a:spcAft>
              <a:defRPr sz="1150" b="1">
                <a:solidFill>
                  <a:srgbClr val="F43F5E"/>
                </a:solidFill>
                <a:latin typeface="Arial"/>
              </a:defRPr>
            </a:pPr>
            <a:r>
              <a:t>双特异性 ADC (Bispecific ADC) 突破</a:t>
            </a:r>
          </a:p>
          <a:p>
            <a:pPr>
              <a:spcAft>
                <a:spcPts val="400"/>
              </a:spcAft>
              <a:defRPr sz="950">
                <a:solidFill>
                  <a:srgbClr val="1E293B"/>
                </a:solidFill>
                <a:latin typeface="Arial"/>
              </a:defRPr>
            </a:pPr>
            <a:r>
              <a:t>• BL-B01D1 (EGFR × HER3 双抗 ADC)：中国自主原创首创</a:t>
            </a:r>
          </a:p>
          <a:p>
            <a:pPr>
              <a:spcAft>
                <a:spcPts val="400"/>
              </a:spcAft>
              <a:defRPr sz="950">
                <a:solidFill>
                  <a:srgbClr val="1E293B"/>
                </a:solidFill>
                <a:latin typeface="Arial"/>
              </a:defRPr>
            </a:pPr>
            <a:r>
              <a:t>• 兼具 EGFR 与 HER3 双重受体介导内吞优势，毒素高效浓聚于癌细胞内</a:t>
            </a:r>
          </a:p>
          <a:p>
            <a:pPr>
              <a:spcAft>
                <a:spcPts val="400"/>
              </a:spcAft>
              <a:defRPr sz="950">
                <a:solidFill>
                  <a:srgbClr val="1E293B"/>
                </a:solidFill>
                <a:latin typeface="Arial"/>
              </a:defRPr>
            </a:pPr>
            <a:r>
              <a:t>• 在经过多线靶向及化疗耐药的晚期 NSCLC 中展现出超过 40% 的高 ORR</a:t>
            </a:r>
          </a:p>
        </p:txBody>
      </p:sp>
      <p:sp>
        <p:nvSpPr>
          <p:cNvPr id="12" name="Rectangle 11"/>
          <p:cNvSpPr/>
          <p:nvPr/>
        </p:nvSpPr>
        <p:spPr>
          <a:xfrm>
            <a:off x="6172200" y="3913632"/>
            <a:ext cx="5257800"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0EA5E9"/>
                </a:solidFill>
                <a:latin typeface="Arial"/>
              </a:defRPr>
            </a:pPr>
            <a:r>
              <a:t>前沿临床试验布局</a:t>
            </a:r>
          </a:p>
          <a:p>
            <a:pPr>
              <a:defRPr sz="2200" b="1">
                <a:solidFill>
                  <a:srgbClr val="1E293B"/>
                </a:solidFill>
                <a:latin typeface="Arial"/>
              </a:defRPr>
            </a:pPr>
            <a:r>
              <a:t>全球正在招募的重磅关键 Phase 3 临床试验（ClinicalTrials.gov）</a:t>
            </a:r>
          </a:p>
          <a:p>
            <a:pPr>
              <a:spcBef>
                <a:spcPts val="200"/>
              </a:spcBef>
              <a:defRPr sz="1100">
                <a:solidFill>
                  <a:srgbClr val="64748B"/>
                </a:solidFill>
                <a:latin typeface="Arial"/>
              </a:defRPr>
            </a:pPr>
            <a:r>
              <a:t>聚焦双抗、ADC联合疗法、术后强化与耐药突破，引领未来5年临床实践走向</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00">
                <a:solidFill>
                  <a:srgbClr val="94A3B8"/>
                </a:solidFill>
                <a:latin typeface="Arial"/>
              </a:defRPr>
            </a:pPr>
            <a:r>
              <a:t>2026年非小细胞肺癌（NSCLC）临床诊疗与前沿指南 | 循证源：PubMed / ClinicalTrials.gov                                                                Slide 19 / 22</a:t>
            </a:r>
          </a:p>
        </p:txBody>
      </p:sp>
      <p:graphicFrame>
        <p:nvGraphicFramePr>
          <p:cNvPr id="5" name="Table 4"/>
          <p:cNvGraphicFramePr>
            <a:graphicFrameLocks noGrp="1"/>
          </p:cNvGraphicFramePr>
          <p:nvPr/>
        </p:nvGraphicFramePr>
        <p:xfrm>
          <a:off x="731520" y="1554480"/>
          <a:ext cx="10728655" cy="4617720"/>
        </p:xfrm>
        <a:graphic>
          <a:graphicData uri="http://schemas.openxmlformats.org/drawingml/2006/table">
            <a:tbl>
              <a:tblPr firstRow="1" bandRow="1">
                <a:tableStyleId>{5C22544A-7EE6-4342-B048-85BDC9FD1C3A}</a:tableStyleId>
              </a:tblPr>
              <a:tblGrid>
                <a:gridCol w="1280160"/>
                <a:gridCol w="2011680"/>
                <a:gridCol w="2560320"/>
                <a:gridCol w="3474720"/>
                <a:gridCol w="1401775"/>
              </a:tblGrid>
              <a:tr h="577215">
                <a:tc>
                  <a:txBody>
                    <a:bodyPr/>
                    <a:lstStyle/>
                    <a:p>
                      <a:pPr>
                        <a:defRPr sz="950" b="1">
                          <a:solidFill>
                            <a:srgbClr val="F1F5F9"/>
                          </a:solidFill>
                          <a:latin typeface="Arial"/>
                        </a:defRPr>
                      </a:pPr>
                      <a:r>
                        <a:t>NCT 注册编号</a:t>
                      </a:r>
                    </a:p>
                  </a:txBody>
                  <a:tcPr>
                    <a:solidFill>
                      <a:srgbClr val="1E293B"/>
                    </a:solidFill>
                  </a:tcPr>
                </a:tc>
                <a:tc>
                  <a:txBody>
                    <a:bodyPr/>
                    <a:lstStyle/>
                    <a:p>
                      <a:pPr>
                        <a:defRPr sz="950" b="1">
                          <a:solidFill>
                            <a:srgbClr val="F1F5F9"/>
                          </a:solidFill>
                          <a:latin typeface="Arial"/>
                        </a:defRPr>
                      </a:pPr>
                      <a:r>
                        <a:t>试验名称/研究代号</a:t>
                      </a:r>
                    </a:p>
                  </a:txBody>
                  <a:tcPr>
                    <a:solidFill>
                      <a:srgbClr val="1E293B"/>
                    </a:solidFill>
                  </a:tcPr>
                </a:tc>
                <a:tc>
                  <a:txBody>
                    <a:bodyPr/>
                    <a:lstStyle/>
                    <a:p>
                      <a:pPr>
                        <a:defRPr sz="950" b="1">
                          <a:solidFill>
                            <a:srgbClr val="F1F5F9"/>
                          </a:solidFill>
                          <a:latin typeface="Arial"/>
                        </a:defRPr>
                      </a:pPr>
                      <a:r>
                        <a:t>试验药物与干预方案</a:t>
                      </a:r>
                    </a:p>
                  </a:txBody>
                  <a:tcPr>
                    <a:solidFill>
                      <a:srgbClr val="1E293B"/>
                    </a:solidFill>
                  </a:tcPr>
                </a:tc>
                <a:tc>
                  <a:txBody>
                    <a:bodyPr/>
                    <a:lstStyle/>
                    <a:p>
                      <a:pPr>
                        <a:defRPr sz="950" b="1">
                          <a:solidFill>
                            <a:srgbClr val="F1F5F9"/>
                          </a:solidFill>
                          <a:latin typeface="Arial"/>
                        </a:defRPr>
                      </a:pPr>
                      <a:r>
                        <a:t>入组目标人群与主要临床意义</a:t>
                      </a:r>
                    </a:p>
                  </a:txBody>
                  <a:tcPr>
                    <a:solidFill>
                      <a:srgbClr val="1E293B"/>
                    </a:solidFill>
                  </a:tcPr>
                </a:tc>
                <a:tc>
                  <a:txBody>
                    <a:bodyPr/>
                    <a:lstStyle/>
                    <a:p>
                      <a:pPr>
                        <a:defRPr sz="950" b="1">
                          <a:solidFill>
                            <a:srgbClr val="F1F5F9"/>
                          </a:solidFill>
                          <a:latin typeface="Arial"/>
                        </a:defRPr>
                      </a:pPr>
                      <a:r>
                        <a:t>主要申办方</a:t>
                      </a:r>
                    </a:p>
                  </a:txBody>
                  <a:tcPr>
                    <a:solidFill>
                      <a:srgbClr val="1E293B"/>
                    </a:solidFill>
                  </a:tcPr>
                </a:tc>
              </a:tr>
              <a:tr h="577215">
                <a:tc>
                  <a:txBody>
                    <a:bodyPr/>
                    <a:lstStyle/>
                    <a:p>
                      <a:pPr>
                        <a:defRPr sz="850" b="1">
                          <a:solidFill>
                            <a:srgbClr val="0EA5E9"/>
                          </a:solidFill>
                          <a:latin typeface="Arial"/>
                        </a:defRPr>
                      </a:pPr>
                      <a:r>
                        <a:t>NCT05899608</a:t>
                      </a:r>
                    </a:p>
                  </a:txBody>
                  <a:tcPr>
                    <a:solidFill>
                      <a:srgbClr val="F8FAFC"/>
                    </a:solidFill>
                  </a:tcPr>
                </a:tc>
                <a:tc>
                  <a:txBody>
                    <a:bodyPr/>
                    <a:lstStyle/>
                    <a:p>
                      <a:pPr>
                        <a:defRPr sz="850">
                          <a:solidFill>
                            <a:srgbClr val="1E293B"/>
                          </a:solidFill>
                          <a:latin typeface="Arial"/>
                        </a:defRPr>
                      </a:pPr>
                      <a:r>
                        <a:t>HARMONi-3</a:t>
                      </a:r>
                    </a:p>
                  </a:txBody>
                  <a:tcPr>
                    <a:solidFill>
                      <a:srgbClr val="F8FAFC"/>
                    </a:solidFill>
                  </a:tcPr>
                </a:tc>
                <a:tc>
                  <a:txBody>
                    <a:bodyPr/>
                    <a:lstStyle/>
                    <a:p>
                      <a:pPr>
                        <a:defRPr sz="850">
                          <a:solidFill>
                            <a:srgbClr val="1E293B"/>
                          </a:solidFill>
                          <a:latin typeface="Arial"/>
                        </a:defRPr>
                      </a:pPr>
                      <a:r>
                        <a:t>依沃西单抗 (AK112) + 化疗 vs 帕博利珠单抗 + 化疗</a:t>
                      </a:r>
                    </a:p>
                  </a:txBody>
                  <a:tcPr>
                    <a:solidFill>
                      <a:srgbClr val="F8FAFC"/>
                    </a:solidFill>
                  </a:tcPr>
                </a:tc>
                <a:tc>
                  <a:txBody>
                    <a:bodyPr/>
                    <a:lstStyle/>
                    <a:p>
                      <a:pPr>
                        <a:defRPr sz="850">
                          <a:solidFill>
                            <a:srgbClr val="1E293B"/>
                          </a:solidFill>
                          <a:latin typeface="Arial"/>
                        </a:defRPr>
                      </a:pPr>
                      <a:r>
                        <a:t>一线转移性鳞状/非鳞状 NSCLC 全球头对头化免对比</a:t>
                      </a:r>
                    </a:p>
                  </a:txBody>
                  <a:tcPr>
                    <a:solidFill>
                      <a:srgbClr val="F8FAFC"/>
                    </a:solidFill>
                  </a:tcPr>
                </a:tc>
                <a:tc>
                  <a:txBody>
                    <a:bodyPr/>
                    <a:lstStyle/>
                    <a:p>
                      <a:pPr>
                        <a:defRPr sz="850">
                          <a:solidFill>
                            <a:srgbClr val="1E293B"/>
                          </a:solidFill>
                          <a:latin typeface="Arial"/>
                        </a:defRPr>
                      </a:pPr>
                      <a:r>
                        <a:t>Summit / Akeso</a:t>
                      </a:r>
                    </a:p>
                  </a:txBody>
                  <a:tcPr>
                    <a:solidFill>
                      <a:srgbClr val="F8FAFC"/>
                    </a:solidFill>
                  </a:tcPr>
                </a:tc>
              </a:tr>
              <a:tr h="577215">
                <a:tc>
                  <a:txBody>
                    <a:bodyPr/>
                    <a:lstStyle/>
                    <a:p>
                      <a:pPr>
                        <a:defRPr sz="850" b="1">
                          <a:solidFill>
                            <a:srgbClr val="0EA5E9"/>
                          </a:solidFill>
                          <a:latin typeface="Arial"/>
                        </a:defRPr>
                      </a:pPr>
                      <a:r>
                        <a:t>NCT06767514</a:t>
                      </a:r>
                    </a:p>
                  </a:txBody>
                  <a:tcPr>
                    <a:solidFill>
                      <a:srgbClr val="FFFFFF"/>
                    </a:solidFill>
                  </a:tcPr>
                </a:tc>
                <a:tc>
                  <a:txBody>
                    <a:bodyPr/>
                    <a:lstStyle/>
                    <a:p>
                      <a:pPr>
                        <a:defRPr sz="850">
                          <a:solidFill>
                            <a:srgbClr val="1E293B"/>
                          </a:solidFill>
                          <a:latin typeface="Arial"/>
                        </a:defRPr>
                      </a:pPr>
                      <a:r>
                        <a:t>HARMONi-7</a:t>
                      </a:r>
                    </a:p>
                  </a:txBody>
                  <a:tcPr>
                    <a:solidFill>
                      <a:srgbClr val="FFFFFF"/>
                    </a:solidFill>
                  </a:tcPr>
                </a:tc>
                <a:tc>
                  <a:txBody>
                    <a:bodyPr/>
                    <a:lstStyle/>
                    <a:p>
                      <a:pPr>
                        <a:defRPr sz="850">
                          <a:solidFill>
                            <a:srgbClr val="1E293B"/>
                          </a:solidFill>
                          <a:latin typeface="Arial"/>
                        </a:defRPr>
                      </a:pPr>
                      <a:r>
                        <a:t>依沃西单抗单药 vs 帕博利珠单抗单药</a:t>
                      </a:r>
                    </a:p>
                  </a:txBody>
                  <a:tcPr>
                    <a:solidFill>
                      <a:srgbClr val="FFFFFF"/>
                    </a:solidFill>
                  </a:tcPr>
                </a:tc>
                <a:tc>
                  <a:txBody>
                    <a:bodyPr/>
                    <a:lstStyle/>
                    <a:p>
                      <a:pPr>
                        <a:defRPr sz="850">
                          <a:solidFill>
                            <a:srgbClr val="1E293B"/>
                          </a:solidFill>
                          <a:latin typeface="Arial"/>
                        </a:defRPr>
                      </a:pPr>
                      <a:r>
                        <a:t>一线高表达 PD-L1 (TPS ≥ 50%) 转移性 NSCLC 全球确证研究</a:t>
                      </a:r>
                    </a:p>
                  </a:txBody>
                  <a:tcPr>
                    <a:solidFill>
                      <a:srgbClr val="FFFFFF"/>
                    </a:solidFill>
                  </a:tcPr>
                </a:tc>
                <a:tc>
                  <a:txBody>
                    <a:bodyPr/>
                    <a:lstStyle/>
                    <a:p>
                      <a:pPr>
                        <a:defRPr sz="850">
                          <a:solidFill>
                            <a:srgbClr val="1E293B"/>
                          </a:solidFill>
                          <a:latin typeface="Arial"/>
                        </a:defRPr>
                      </a:pPr>
                      <a:r>
                        <a:t>Summit Therapeutics</a:t>
                      </a:r>
                    </a:p>
                  </a:txBody>
                  <a:tcPr>
                    <a:solidFill>
                      <a:srgbClr val="FFFFFF"/>
                    </a:solidFill>
                  </a:tcPr>
                </a:tc>
              </a:tr>
              <a:tr h="577215">
                <a:tc>
                  <a:txBody>
                    <a:bodyPr/>
                    <a:lstStyle/>
                    <a:p>
                      <a:pPr>
                        <a:defRPr sz="850" b="1">
                          <a:solidFill>
                            <a:srgbClr val="0EA5E9"/>
                          </a:solidFill>
                          <a:latin typeface="Arial"/>
                        </a:defRPr>
                      </a:pPr>
                      <a:r>
                        <a:t>NCT06350097</a:t>
                      </a:r>
                    </a:p>
                  </a:txBody>
                  <a:tcPr>
                    <a:solidFill>
                      <a:srgbClr val="F8FAFC"/>
                    </a:solidFill>
                  </a:tcPr>
                </a:tc>
                <a:tc>
                  <a:txBody>
                    <a:bodyPr/>
                    <a:lstStyle/>
                    <a:p>
                      <a:pPr>
                        <a:defRPr sz="850">
                          <a:solidFill>
                            <a:srgbClr val="1E293B"/>
                          </a:solidFill>
                          <a:latin typeface="Arial"/>
                        </a:defRPr>
                      </a:pPr>
                      <a:r>
                        <a:t>TROPION-Lung14</a:t>
                      </a:r>
                    </a:p>
                  </a:txBody>
                  <a:tcPr>
                    <a:solidFill>
                      <a:srgbClr val="F8FAFC"/>
                    </a:solidFill>
                  </a:tcPr>
                </a:tc>
                <a:tc>
                  <a:txBody>
                    <a:bodyPr/>
                    <a:lstStyle/>
                    <a:p>
                      <a:pPr>
                        <a:defRPr sz="850">
                          <a:solidFill>
                            <a:srgbClr val="1E293B"/>
                          </a:solidFill>
                          <a:latin typeface="Arial"/>
                        </a:defRPr>
                      </a:pPr>
                      <a:r>
                        <a:t>奥希替尼 ± Datopotamab Deruxtecan (Dato-DXd)</a:t>
                      </a:r>
                    </a:p>
                  </a:txBody>
                  <a:tcPr>
                    <a:solidFill>
                      <a:srgbClr val="F8FAFC"/>
                    </a:solidFill>
                  </a:tcPr>
                </a:tc>
                <a:tc>
                  <a:txBody>
                    <a:bodyPr/>
                    <a:lstStyle/>
                    <a:p>
                      <a:pPr>
                        <a:defRPr sz="850">
                          <a:solidFill>
                            <a:srgbClr val="1E293B"/>
                          </a:solidFill>
                          <a:latin typeface="Arial"/>
                        </a:defRPr>
                      </a:pPr>
                      <a:r>
                        <a:t>一线局部晚期或转移性 EGFR 突变 NSCLC 靶向+ADC强化</a:t>
                      </a:r>
                    </a:p>
                  </a:txBody>
                  <a:tcPr>
                    <a:solidFill>
                      <a:srgbClr val="F8FAFC"/>
                    </a:solidFill>
                  </a:tcPr>
                </a:tc>
                <a:tc>
                  <a:txBody>
                    <a:bodyPr/>
                    <a:lstStyle/>
                    <a:p>
                      <a:pPr>
                        <a:defRPr sz="850">
                          <a:solidFill>
                            <a:srgbClr val="1E293B"/>
                          </a:solidFill>
                          <a:latin typeface="Arial"/>
                        </a:defRPr>
                      </a:pPr>
                      <a:r>
                        <a:t>AstraZeneca</a:t>
                      </a:r>
                    </a:p>
                  </a:txBody>
                  <a:tcPr>
                    <a:solidFill>
                      <a:srgbClr val="F8FAFC"/>
                    </a:solidFill>
                  </a:tcPr>
                </a:tc>
              </a:tr>
              <a:tr h="577215">
                <a:tc>
                  <a:txBody>
                    <a:bodyPr/>
                    <a:lstStyle/>
                    <a:p>
                      <a:pPr>
                        <a:defRPr sz="850" b="1">
                          <a:solidFill>
                            <a:srgbClr val="0EA5E9"/>
                          </a:solidFill>
                          <a:latin typeface="Arial"/>
                        </a:defRPr>
                      </a:pPr>
                      <a:r>
                        <a:t>NCT06417814</a:t>
                      </a:r>
                    </a:p>
                  </a:txBody>
                  <a:tcPr>
                    <a:solidFill>
                      <a:srgbClr val="FFFFFF"/>
                    </a:solidFill>
                  </a:tcPr>
                </a:tc>
                <a:tc>
                  <a:txBody>
                    <a:bodyPr/>
                    <a:lstStyle/>
                    <a:p>
                      <a:pPr>
                        <a:defRPr sz="850">
                          <a:solidFill>
                            <a:srgbClr val="1E293B"/>
                          </a:solidFill>
                          <a:latin typeface="Arial"/>
                        </a:defRPr>
                      </a:pPr>
                      <a:r>
                        <a:t>TROPION-Lung15</a:t>
                      </a:r>
                    </a:p>
                  </a:txBody>
                  <a:tcPr>
                    <a:solidFill>
                      <a:srgbClr val="FFFFFF"/>
                    </a:solidFill>
                  </a:tcPr>
                </a:tc>
                <a:tc>
                  <a:txBody>
                    <a:bodyPr/>
                    <a:lstStyle/>
                    <a:p>
                      <a:pPr>
                        <a:defRPr sz="850">
                          <a:solidFill>
                            <a:srgbClr val="1E293B"/>
                          </a:solidFill>
                          <a:latin typeface="Arial"/>
                        </a:defRPr>
                      </a:pPr>
                      <a:r>
                        <a:t>Dato-DXd ± 奥希替尼 vs 含铂双药化疗</a:t>
                      </a:r>
                    </a:p>
                  </a:txBody>
                  <a:tcPr>
                    <a:solidFill>
                      <a:srgbClr val="FFFFFF"/>
                    </a:solidFill>
                  </a:tcPr>
                </a:tc>
                <a:tc>
                  <a:txBody>
                    <a:bodyPr/>
                    <a:lstStyle/>
                    <a:p>
                      <a:pPr>
                        <a:defRPr sz="850">
                          <a:solidFill>
                            <a:srgbClr val="1E293B"/>
                          </a:solidFill>
                          <a:latin typeface="Arial"/>
                        </a:defRPr>
                      </a:pPr>
                      <a:r>
                        <a:t>既往经治进展后的 EGFR 突变局部晚期/转移性 NSCLC 救援治疗</a:t>
                      </a:r>
                    </a:p>
                  </a:txBody>
                  <a:tcPr>
                    <a:solidFill>
                      <a:srgbClr val="FFFFFF"/>
                    </a:solidFill>
                  </a:tcPr>
                </a:tc>
                <a:tc>
                  <a:txBody>
                    <a:bodyPr/>
                    <a:lstStyle/>
                    <a:p>
                      <a:pPr>
                        <a:defRPr sz="850">
                          <a:solidFill>
                            <a:srgbClr val="1E293B"/>
                          </a:solidFill>
                          <a:latin typeface="Arial"/>
                        </a:defRPr>
                      </a:pPr>
                      <a:r>
                        <a:t>AstraZeneca</a:t>
                      </a:r>
                    </a:p>
                  </a:txBody>
                  <a:tcPr>
                    <a:solidFill>
                      <a:srgbClr val="FFFFFF"/>
                    </a:solidFill>
                  </a:tcPr>
                </a:tc>
              </a:tr>
              <a:tr h="577215">
                <a:tc>
                  <a:txBody>
                    <a:bodyPr/>
                    <a:lstStyle/>
                    <a:p>
                      <a:pPr>
                        <a:defRPr sz="850" b="1">
                          <a:solidFill>
                            <a:srgbClr val="0EA5E9"/>
                          </a:solidFill>
                          <a:latin typeface="Arial"/>
                        </a:defRPr>
                      </a:pPr>
                      <a:r>
                        <a:t>NCT06170788</a:t>
                      </a:r>
                    </a:p>
                  </a:txBody>
                  <a:tcPr>
                    <a:solidFill>
                      <a:srgbClr val="F8FAFC"/>
                    </a:solidFill>
                  </a:tcPr>
                </a:tc>
                <a:tc>
                  <a:txBody>
                    <a:bodyPr/>
                    <a:lstStyle/>
                    <a:p>
                      <a:pPr>
                        <a:defRPr sz="850">
                          <a:solidFill>
                            <a:srgbClr val="1E293B"/>
                          </a:solidFill>
                          <a:latin typeface="Arial"/>
                        </a:defRPr>
                      </a:pPr>
                      <a:r>
                        <a:t>MK-2870-007</a:t>
                      </a:r>
                    </a:p>
                  </a:txBody>
                  <a:tcPr>
                    <a:solidFill>
                      <a:srgbClr val="F8FAFC"/>
                    </a:solidFill>
                  </a:tcPr>
                </a:tc>
                <a:tc>
                  <a:txBody>
                    <a:bodyPr/>
                    <a:lstStyle/>
                    <a:p>
                      <a:pPr>
                        <a:defRPr sz="850">
                          <a:solidFill>
                            <a:srgbClr val="1E293B"/>
                          </a:solidFill>
                          <a:latin typeface="Arial"/>
                        </a:defRPr>
                      </a:pPr>
                      <a:r>
                        <a:t>Sacituzumab Tirumotecan (MK-2870) + 帕博利珠单抗 vs 帕博利珠</a:t>
                      </a:r>
                    </a:p>
                  </a:txBody>
                  <a:tcPr>
                    <a:solidFill>
                      <a:srgbClr val="F8FAFC"/>
                    </a:solidFill>
                  </a:tcPr>
                </a:tc>
                <a:tc>
                  <a:txBody>
                    <a:bodyPr/>
                    <a:lstStyle/>
                    <a:p>
                      <a:pPr>
                        <a:defRPr sz="850">
                          <a:solidFill>
                            <a:srgbClr val="1E293B"/>
                          </a:solidFill>
                          <a:latin typeface="Arial"/>
                        </a:defRPr>
                      </a:pPr>
                      <a:r>
                        <a:t>一线 PD-L1 TPS ≥ 50% 转移性 NSCLC，探索 ADC+IO 新标准</a:t>
                      </a:r>
                    </a:p>
                  </a:txBody>
                  <a:tcPr>
                    <a:solidFill>
                      <a:srgbClr val="F8FAFC"/>
                    </a:solidFill>
                  </a:tcPr>
                </a:tc>
                <a:tc>
                  <a:txBody>
                    <a:bodyPr/>
                    <a:lstStyle/>
                    <a:p>
                      <a:pPr>
                        <a:defRPr sz="850">
                          <a:solidFill>
                            <a:srgbClr val="1E293B"/>
                          </a:solidFill>
                          <a:latin typeface="Arial"/>
                        </a:defRPr>
                      </a:pPr>
                      <a:r>
                        <a:t>MSD (默沙东)</a:t>
                      </a:r>
                    </a:p>
                  </a:txBody>
                  <a:tcPr>
                    <a:solidFill>
                      <a:srgbClr val="F8FAFC"/>
                    </a:solidFill>
                  </a:tcPr>
                </a:tc>
              </a:tr>
              <a:tr h="577215">
                <a:tc>
                  <a:txBody>
                    <a:bodyPr/>
                    <a:lstStyle/>
                    <a:p>
                      <a:pPr>
                        <a:defRPr sz="850" b="1">
                          <a:solidFill>
                            <a:srgbClr val="0EA5E9"/>
                          </a:solidFill>
                          <a:latin typeface="Arial"/>
                        </a:defRPr>
                      </a:pPr>
                      <a:r>
                        <a:t>NCT06312137</a:t>
                      </a:r>
                    </a:p>
                  </a:txBody>
                  <a:tcPr>
                    <a:solidFill>
                      <a:srgbClr val="FFFFFF"/>
                    </a:solidFill>
                  </a:tcPr>
                </a:tc>
                <a:tc>
                  <a:txBody>
                    <a:bodyPr/>
                    <a:lstStyle/>
                    <a:p>
                      <a:pPr>
                        <a:defRPr sz="850">
                          <a:solidFill>
                            <a:srgbClr val="1E293B"/>
                          </a:solidFill>
                          <a:latin typeface="Arial"/>
                        </a:defRPr>
                      </a:pPr>
                      <a:r>
                        <a:t>MK-2870-019</a:t>
                      </a:r>
                    </a:p>
                  </a:txBody>
                  <a:tcPr>
                    <a:solidFill>
                      <a:srgbClr val="FFFFFF"/>
                    </a:solidFill>
                  </a:tcPr>
                </a:tc>
                <a:tc>
                  <a:txBody>
                    <a:bodyPr/>
                    <a:lstStyle/>
                    <a:p>
                      <a:pPr>
                        <a:defRPr sz="850">
                          <a:solidFill>
                            <a:srgbClr val="1E293B"/>
                          </a:solidFill>
                          <a:latin typeface="Arial"/>
                        </a:defRPr>
                      </a:pPr>
                      <a:r>
                        <a:t>帕博利珠单抗 ± Sacituzumab Tirumotecan (MK-2870)</a:t>
                      </a:r>
                    </a:p>
                  </a:txBody>
                  <a:tcPr>
                    <a:solidFill>
                      <a:srgbClr val="FFFFFF"/>
                    </a:solidFill>
                  </a:tcPr>
                </a:tc>
                <a:tc>
                  <a:txBody>
                    <a:bodyPr/>
                    <a:lstStyle/>
                    <a:p>
                      <a:pPr>
                        <a:defRPr sz="850">
                          <a:solidFill>
                            <a:srgbClr val="1E293B"/>
                          </a:solidFill>
                          <a:latin typeface="Arial"/>
                        </a:defRPr>
                      </a:pPr>
                      <a:r>
                        <a:t>新辅助免疫化疗后手术未达到 pCR (non-pCR) 的术后辅助强化</a:t>
                      </a:r>
                    </a:p>
                  </a:txBody>
                  <a:tcPr>
                    <a:solidFill>
                      <a:srgbClr val="FFFFFF"/>
                    </a:solidFill>
                  </a:tcPr>
                </a:tc>
                <a:tc>
                  <a:txBody>
                    <a:bodyPr/>
                    <a:lstStyle/>
                    <a:p>
                      <a:pPr>
                        <a:defRPr sz="850">
                          <a:solidFill>
                            <a:srgbClr val="1E293B"/>
                          </a:solidFill>
                          <a:latin typeface="Arial"/>
                        </a:defRPr>
                      </a:pPr>
                      <a:r>
                        <a:t>MSD (默沙东)</a:t>
                      </a:r>
                    </a:p>
                  </a:txBody>
                  <a:tcPr>
                    <a:solidFill>
                      <a:srgbClr val="FFFFFF"/>
                    </a:solidFill>
                  </a:tcPr>
                </a:tc>
              </a:tr>
              <a:tr h="577215">
                <a:tc>
                  <a:txBody>
                    <a:bodyPr/>
                    <a:lstStyle/>
                    <a:p>
                      <a:pPr>
                        <a:defRPr sz="850" b="1">
                          <a:solidFill>
                            <a:srgbClr val="0EA5E9"/>
                          </a:solidFill>
                          <a:latin typeface="Arial"/>
                        </a:defRPr>
                      </a:pPr>
                      <a:r>
                        <a:t>NCT06875310</a:t>
                      </a:r>
                    </a:p>
                  </a:txBody>
                  <a:tcPr>
                    <a:solidFill>
                      <a:srgbClr val="F8FAFC"/>
                    </a:solidFill>
                  </a:tcPr>
                </a:tc>
                <a:tc>
                  <a:txBody>
                    <a:bodyPr/>
                    <a:lstStyle/>
                    <a:p>
                      <a:pPr>
                        <a:defRPr sz="850">
                          <a:solidFill>
                            <a:srgbClr val="1E293B"/>
                          </a:solidFill>
                          <a:latin typeface="Arial"/>
                        </a:defRPr>
                      </a:pPr>
                      <a:r>
                        <a:t>KRYSTAL-4</a:t>
                      </a:r>
                    </a:p>
                  </a:txBody>
                  <a:tcPr>
                    <a:solidFill>
                      <a:srgbClr val="F8FAFC"/>
                    </a:solidFill>
                  </a:tcPr>
                </a:tc>
                <a:tc>
                  <a:txBody>
                    <a:bodyPr/>
                    <a:lstStyle/>
                    <a:p>
                      <a:pPr>
                        <a:defRPr sz="850">
                          <a:solidFill>
                            <a:srgbClr val="1E293B"/>
                          </a:solidFill>
                          <a:latin typeface="Arial"/>
                        </a:defRPr>
                      </a:pPr>
                      <a:r>
                        <a:t>阿达格拉西布 + 帕博利珠单抗 + 化疗 vs 安慰剂+免化</a:t>
                      </a:r>
                    </a:p>
                  </a:txBody>
                  <a:tcPr>
                    <a:solidFill>
                      <a:srgbClr val="F8FAFC"/>
                    </a:solidFill>
                  </a:tcPr>
                </a:tc>
                <a:tc>
                  <a:txBody>
                    <a:bodyPr/>
                    <a:lstStyle/>
                    <a:p>
                      <a:pPr>
                        <a:defRPr sz="850">
                          <a:solidFill>
                            <a:srgbClr val="1E293B"/>
                          </a:solidFill>
                          <a:latin typeface="Arial"/>
                        </a:defRPr>
                      </a:pPr>
                      <a:r>
                        <a:t>初治伴 KRAS G12C 突变非鳞状 NSCLC 一线靶向联合免疫化疗</a:t>
                      </a:r>
                    </a:p>
                  </a:txBody>
                  <a:tcPr>
                    <a:solidFill>
                      <a:srgbClr val="F8FAFC"/>
                    </a:solidFill>
                  </a:tcPr>
                </a:tc>
                <a:tc>
                  <a:txBody>
                    <a:bodyPr/>
                    <a:lstStyle/>
                    <a:p>
                      <a:pPr>
                        <a:defRPr sz="850">
                          <a:solidFill>
                            <a:srgbClr val="1E293B"/>
                          </a:solidFill>
                          <a:latin typeface="Arial"/>
                        </a:defRPr>
                      </a:pPr>
                      <a:r>
                        <a:t>Mirati / BMS</a:t>
                      </a:r>
                    </a:p>
                  </a:txBody>
                  <a:tcPr>
                    <a:solidFill>
                      <a:srgbClr val="F8FAFC"/>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0EA5E9"/>
                </a:solidFill>
                <a:latin typeface="Arial"/>
              </a:defRPr>
            </a:pPr>
            <a:r>
              <a:t>未来治疗前瞻</a:t>
            </a:r>
          </a:p>
          <a:p>
            <a:pPr>
              <a:defRPr sz="2200" b="1">
                <a:solidFill>
                  <a:srgbClr val="1E293B"/>
                </a:solidFill>
                <a:latin typeface="Arial"/>
              </a:defRPr>
            </a:pPr>
            <a:r>
              <a:t>未来前沿探索：第四代 TKI、个体化 mRNA 疫苗与细胞疗法</a:t>
            </a:r>
          </a:p>
          <a:p>
            <a:pPr>
              <a:spcBef>
                <a:spcPts val="200"/>
              </a:spcBef>
              <a:defRPr sz="1100">
                <a:solidFill>
                  <a:srgbClr val="64748B"/>
                </a:solidFill>
                <a:latin typeface="Arial"/>
              </a:defRPr>
            </a:pPr>
            <a:r>
              <a:t>攻克突变耐药持久细胞与预防复发的新武器正在加速迈向临床应用</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00">
                <a:solidFill>
                  <a:srgbClr val="94A3B8"/>
                </a:solidFill>
                <a:latin typeface="Arial"/>
              </a:defRPr>
            </a:pPr>
            <a:r>
              <a:t>2026年非小细胞肺癌（NSCLC）临床诊疗与前沿指南 | 循证源：PubMed / ClinicalTrials.gov                                                                Slide 20 / 22</a:t>
            </a:r>
          </a:p>
        </p:txBody>
      </p:sp>
      <p:sp>
        <p:nvSpPr>
          <p:cNvPr id="5" name="Rounded Rectangle 4"/>
          <p:cNvSpPr/>
          <p:nvPr/>
        </p:nvSpPr>
        <p:spPr>
          <a:xfrm>
            <a:off x="731520" y="1554480"/>
            <a:ext cx="3456432"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spcAft>
                <a:spcPts val="1400"/>
              </a:spcAft>
              <a:defRPr sz="1200" b="1">
                <a:solidFill>
                  <a:srgbClr val="0EA5E9"/>
                </a:solidFill>
                <a:latin typeface="Arial"/>
              </a:defRPr>
            </a:pPr>
            <a:r>
              <a:t>第四代 EGFR-TKI 与变构抑制剂</a:t>
            </a:r>
          </a:p>
          <a:p>
            <a:pPr>
              <a:spcAft>
                <a:spcPts val="800"/>
              </a:spcAft>
              <a:defRPr sz="1000">
                <a:solidFill>
                  <a:srgbClr val="1E293B"/>
                </a:solidFill>
                <a:latin typeface="Arial"/>
              </a:defRPr>
            </a:pPr>
            <a:r>
              <a:t>• 克服三代 TKI 耐药核心突变：C797S (顺式或反式突变)</a:t>
            </a:r>
          </a:p>
          <a:p>
            <a:pPr>
              <a:spcAft>
                <a:spcPts val="800"/>
              </a:spcAft>
              <a:defRPr sz="1000">
                <a:solidFill>
                  <a:srgbClr val="1E293B"/>
                </a:solidFill>
                <a:latin typeface="Arial"/>
              </a:defRPr>
            </a:pPr>
            <a:r>
              <a:t>• 代表药物：BLU-945, BBT-176, BDTX-1535 (具有高 CNS 穿透力)</a:t>
            </a:r>
          </a:p>
          <a:p>
            <a:pPr>
              <a:spcAft>
                <a:spcPts val="800"/>
              </a:spcAft>
              <a:defRPr sz="1000">
                <a:solidFill>
                  <a:srgbClr val="1E293B"/>
                </a:solidFill>
                <a:latin typeface="Arial"/>
              </a:defRPr>
            </a:pPr>
            <a:r>
              <a:t>• 全新变构结合口袋（Allosteric site），非 ATP 竞争性结合，极大提高对突变体的选择性并规避野生型毒性</a:t>
            </a:r>
          </a:p>
          <a:p>
            <a:pPr>
              <a:spcAft>
                <a:spcPts val="800"/>
              </a:spcAft>
              <a:defRPr sz="1000">
                <a:solidFill>
                  <a:srgbClr val="1E293B"/>
                </a:solidFill>
                <a:latin typeface="Arial"/>
              </a:defRPr>
            </a:pPr>
            <a:r>
              <a:t>• 与三代 TKI 联合用药有望实现靶向长期无进展维持</a:t>
            </a:r>
          </a:p>
        </p:txBody>
      </p:sp>
      <p:sp>
        <p:nvSpPr>
          <p:cNvPr id="6" name="Rectangle 5"/>
          <p:cNvSpPr/>
          <p:nvPr/>
        </p:nvSpPr>
        <p:spPr>
          <a:xfrm>
            <a:off x="731520" y="1554480"/>
            <a:ext cx="3456432" cy="10972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370832" y="1554480"/>
            <a:ext cx="3456432"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spcAft>
                <a:spcPts val="1400"/>
              </a:spcAft>
              <a:defRPr sz="1200" b="1">
                <a:solidFill>
                  <a:srgbClr val="6366F1"/>
                </a:solidFill>
                <a:latin typeface="Arial"/>
              </a:defRPr>
            </a:pPr>
            <a:r>
              <a:t>清除耐药持久细胞 (DTP) 与细胞疗法</a:t>
            </a:r>
          </a:p>
          <a:p>
            <a:pPr>
              <a:spcAft>
                <a:spcPts val="800"/>
              </a:spcAft>
              <a:defRPr sz="1000">
                <a:solidFill>
                  <a:srgbClr val="1E293B"/>
                </a:solidFill>
                <a:latin typeface="Arial"/>
              </a:defRPr>
            </a:pPr>
            <a:r>
              <a:t>• 2025 Cancer Discovery 重磅突破 (PMID: 40762432)：阐明靶向 TROP2 的 CAR-T 细胞能够高效根除残存的药物耐受持久性细胞</a:t>
            </a:r>
          </a:p>
          <a:p>
            <a:pPr>
              <a:spcAft>
                <a:spcPts val="800"/>
              </a:spcAft>
              <a:defRPr sz="1000">
                <a:solidFill>
                  <a:srgbClr val="1E293B"/>
                </a:solidFill>
                <a:latin typeface="Arial"/>
              </a:defRPr>
            </a:pPr>
            <a:r>
              <a:t>• 肿瘤浸润淋巴细胞 (TIL) 疗法：在经治晚期肺癌中展现持久缓解</a:t>
            </a:r>
          </a:p>
          <a:p>
            <a:pPr>
              <a:spcAft>
                <a:spcPts val="800"/>
              </a:spcAft>
              <a:defRPr sz="1000">
                <a:solidFill>
                  <a:srgbClr val="1E293B"/>
                </a:solidFill>
                <a:latin typeface="Arial"/>
              </a:defRPr>
            </a:pPr>
            <a:r>
              <a:t>• TCR-T 细胞免疫治疗：针对 MAGE-A4、NY-ESO-1 等肿瘤睾丸抗原靶点展现临床潜力</a:t>
            </a:r>
          </a:p>
        </p:txBody>
      </p:sp>
      <p:sp>
        <p:nvSpPr>
          <p:cNvPr id="8" name="Rectangle 7"/>
          <p:cNvSpPr/>
          <p:nvPr/>
        </p:nvSpPr>
        <p:spPr>
          <a:xfrm>
            <a:off x="4370832" y="1554480"/>
            <a:ext cx="3456432" cy="10972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10144" y="1554480"/>
            <a:ext cx="3456432"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spcAft>
                <a:spcPts val="1400"/>
              </a:spcAft>
              <a:defRPr sz="1200" b="1">
                <a:solidFill>
                  <a:srgbClr val="10B981"/>
                </a:solidFill>
                <a:latin typeface="Arial"/>
              </a:defRPr>
            </a:pPr>
            <a:r>
              <a:t>个体化 mRNA 新抗原肿瘤疫苗</a:t>
            </a:r>
          </a:p>
          <a:p>
            <a:pPr>
              <a:spcAft>
                <a:spcPts val="800"/>
              </a:spcAft>
              <a:defRPr sz="1000">
                <a:solidFill>
                  <a:srgbClr val="1E293B"/>
                </a:solidFill>
                <a:latin typeface="Arial"/>
              </a:defRPr>
            </a:pPr>
            <a:r>
              <a:t>• mRNA-4157 (V940)：基于患者切除肿瘤外显子突变谱定制的多价新抗原 mRNA 疫苗</a:t>
            </a:r>
          </a:p>
          <a:p>
            <a:pPr>
              <a:spcAft>
                <a:spcPts val="800"/>
              </a:spcAft>
              <a:defRPr sz="1000">
                <a:solidFill>
                  <a:srgbClr val="1E293B"/>
                </a:solidFill>
                <a:latin typeface="Arial"/>
              </a:defRPr>
            </a:pPr>
            <a:r>
              <a:t>• 机制：强效激活宿主内源性特异性多克隆 T 细胞免疫反应</a:t>
            </a:r>
          </a:p>
          <a:p>
            <a:pPr>
              <a:spcAft>
                <a:spcPts val="800"/>
              </a:spcAft>
              <a:defRPr sz="1000">
                <a:solidFill>
                  <a:srgbClr val="1E293B"/>
                </a:solidFill>
                <a:latin typeface="Arial"/>
              </a:defRPr>
            </a:pPr>
            <a:r>
              <a:t>• 临床推进：联合抗 PD-1 单抗作为术后辅助治疗，在肺癌高复发风险患者中开展国际多中心 Phase 3 注册研究</a:t>
            </a:r>
          </a:p>
        </p:txBody>
      </p:sp>
      <p:sp>
        <p:nvSpPr>
          <p:cNvPr id="10" name="Rectangle 9"/>
          <p:cNvSpPr/>
          <p:nvPr/>
        </p:nvSpPr>
        <p:spPr>
          <a:xfrm>
            <a:off x="8010144" y="1554480"/>
            <a:ext cx="3456432"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0EA5E9"/>
                </a:solidFill>
                <a:latin typeface="Arial"/>
              </a:defRPr>
            </a:pPr>
            <a:r>
              <a:t>MDT 与毒性管理</a:t>
            </a:r>
          </a:p>
          <a:p>
            <a:pPr>
              <a:defRPr sz="2200" b="1">
                <a:solidFill>
                  <a:srgbClr val="1E293B"/>
                </a:solidFill>
                <a:latin typeface="Arial"/>
              </a:defRPr>
            </a:pPr>
            <a:r>
              <a:t>多学科协作（MDT）规范化实施核查清单与关键毒性管理</a:t>
            </a:r>
          </a:p>
          <a:p>
            <a:pPr>
              <a:spcBef>
                <a:spcPts val="200"/>
              </a:spcBef>
              <a:defRPr sz="1100">
                <a:solidFill>
                  <a:srgbClr val="64748B"/>
                </a:solidFill>
                <a:latin typeface="Arial"/>
              </a:defRPr>
            </a:pPr>
            <a:r>
              <a:t>建立制度化全病程管理与严重不良事件（irAEs, ILD）早期预警应急机制</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00">
                <a:solidFill>
                  <a:srgbClr val="94A3B8"/>
                </a:solidFill>
                <a:latin typeface="Arial"/>
              </a:defRPr>
            </a:pPr>
            <a:r>
              <a:t>2026年非小细胞肺癌（NSCLC）临床诊疗与前沿指南 | 循证源：PubMed / ClinicalTrials.gov                                                                Slide 21 / 22</a:t>
            </a:r>
          </a:p>
        </p:txBody>
      </p:sp>
      <p:sp>
        <p:nvSpPr>
          <p:cNvPr id="5" name="Rounded Rectangle 4"/>
          <p:cNvSpPr/>
          <p:nvPr/>
        </p:nvSpPr>
        <p:spPr>
          <a:xfrm>
            <a:off x="731520" y="1554480"/>
            <a:ext cx="521208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000"/>
              </a:spcAft>
              <a:defRPr sz="1300" b="1">
                <a:solidFill>
                  <a:srgbClr val="1E293B"/>
                </a:solidFill>
                <a:latin typeface="Arial"/>
              </a:defRPr>
            </a:pPr>
            <a:r>
              <a:t>MDT 临床决策全流程核查清单</a:t>
            </a:r>
          </a:p>
          <a:p>
            <a:pPr>
              <a:spcAft>
                <a:spcPts val="100"/>
              </a:spcAft>
              <a:defRPr sz="1050" b="1">
                <a:solidFill>
                  <a:srgbClr val="0EA5E9"/>
                </a:solidFill>
                <a:latin typeface="Arial"/>
              </a:defRPr>
            </a:pPr>
            <a:r>
              <a:t>[✔] 分期评估核查</a:t>
            </a:r>
          </a:p>
          <a:p>
            <a:pPr>
              <a:spcAft>
                <a:spcPts val="500"/>
              </a:spcAft>
              <a:defRPr sz="900">
                <a:solidFill>
                  <a:srgbClr val="64748B"/>
                </a:solidFill>
                <a:latin typeface="Arial"/>
              </a:defRPr>
            </a:pPr>
            <a:r>
              <a:t>薄层胸部增强CT（含肝肾上腺）+ 增强脑MRI + 全身PET/CT 是否已完备？</a:t>
            </a:r>
          </a:p>
          <a:p>
            <a:pPr>
              <a:spcAft>
                <a:spcPts val="100"/>
              </a:spcAft>
              <a:defRPr sz="1050" b="1">
                <a:solidFill>
                  <a:srgbClr val="0EA5E9"/>
                </a:solidFill>
                <a:latin typeface="Arial"/>
              </a:defRPr>
            </a:pPr>
            <a:r>
              <a:t>[✔] 纵隔病理核查</a:t>
            </a:r>
          </a:p>
          <a:p>
            <a:pPr>
              <a:spcAft>
                <a:spcPts val="500"/>
              </a:spcAft>
              <a:defRPr sz="900">
                <a:solidFill>
                  <a:srgbClr val="64748B"/>
                </a:solidFill>
                <a:latin typeface="Arial"/>
              </a:defRPr>
            </a:pPr>
            <a:r>
              <a:t>病灶 &gt; 3 cm 或伴肺门/纵隔淋巴结肿大者，是否已行 EBUS-TBNA 纵隔分期？</a:t>
            </a:r>
          </a:p>
          <a:p>
            <a:pPr>
              <a:spcAft>
                <a:spcPts val="100"/>
              </a:spcAft>
              <a:defRPr sz="1050" b="1">
                <a:solidFill>
                  <a:srgbClr val="0EA5E9"/>
                </a:solidFill>
                <a:latin typeface="Arial"/>
              </a:defRPr>
            </a:pPr>
            <a:r>
              <a:t>[✔] 分子病理核查</a:t>
            </a:r>
          </a:p>
          <a:p>
            <a:pPr>
              <a:spcAft>
                <a:spcPts val="500"/>
              </a:spcAft>
              <a:defRPr sz="900">
                <a:solidFill>
                  <a:srgbClr val="64748B"/>
                </a:solidFill>
                <a:latin typeface="Arial"/>
              </a:defRPr>
            </a:pPr>
            <a:r>
              <a:t>非鳞癌及年轻/非吸烟鳞癌是否已获完整 DNA+RNA NGS 及 PD-L1 TPS 数值？</a:t>
            </a:r>
          </a:p>
          <a:p>
            <a:pPr>
              <a:spcAft>
                <a:spcPts val="100"/>
              </a:spcAft>
              <a:defRPr sz="1050" b="1">
                <a:solidFill>
                  <a:srgbClr val="0EA5E9"/>
                </a:solidFill>
                <a:latin typeface="Arial"/>
              </a:defRPr>
            </a:pPr>
            <a:r>
              <a:t>[✔] 肺功能与心血管</a:t>
            </a:r>
          </a:p>
          <a:p>
            <a:pPr>
              <a:spcAft>
                <a:spcPts val="500"/>
              </a:spcAft>
              <a:defRPr sz="900">
                <a:solidFill>
                  <a:srgbClr val="64748B"/>
                </a:solidFill>
                <a:latin typeface="Arial"/>
              </a:defRPr>
            </a:pPr>
            <a:r>
              <a:t>术前是否已常规评估 FEV1、DLCO 及心脏储备功能？</a:t>
            </a:r>
          </a:p>
          <a:p>
            <a:pPr>
              <a:spcAft>
                <a:spcPts val="100"/>
              </a:spcAft>
              <a:defRPr sz="1050" b="1">
                <a:solidFill>
                  <a:srgbClr val="0EA5E9"/>
                </a:solidFill>
                <a:latin typeface="Arial"/>
              </a:defRPr>
            </a:pPr>
            <a:r>
              <a:t>[✔] 用药禁忌排查</a:t>
            </a:r>
          </a:p>
          <a:p>
            <a:pPr>
              <a:spcAft>
                <a:spcPts val="500"/>
              </a:spcAft>
              <a:defRPr sz="900">
                <a:solidFill>
                  <a:srgbClr val="64748B"/>
                </a:solidFill>
                <a:latin typeface="Arial"/>
              </a:defRPr>
            </a:pPr>
            <a:r>
              <a:t>新辅助或一线使用免疫前，是否已排除 EGFR/ALK 驱动突变？</a:t>
            </a:r>
          </a:p>
          <a:p>
            <a:pPr>
              <a:spcAft>
                <a:spcPts val="100"/>
              </a:spcAft>
              <a:defRPr sz="1050" b="1">
                <a:solidFill>
                  <a:srgbClr val="0EA5E9"/>
                </a:solidFill>
                <a:latin typeface="Arial"/>
              </a:defRPr>
            </a:pPr>
            <a:r>
              <a:t>[✔] 动态监测规划</a:t>
            </a:r>
          </a:p>
          <a:p>
            <a:pPr>
              <a:spcAft>
                <a:spcPts val="500"/>
              </a:spcAft>
              <a:defRPr sz="900">
                <a:solidFill>
                  <a:srgbClr val="64748B"/>
                </a:solidFill>
                <a:latin typeface="Arial"/>
              </a:defRPr>
            </a:pPr>
            <a:r>
              <a:t>术后辅助治疗期或维持治疗期是否每 3 个月规则随访胸脑影像与血液指标？</a:t>
            </a:r>
          </a:p>
        </p:txBody>
      </p:sp>
      <p:sp>
        <p:nvSpPr>
          <p:cNvPr id="6" name="Rounded Rectangle 5"/>
          <p:cNvSpPr/>
          <p:nvPr/>
        </p:nvSpPr>
        <p:spPr>
          <a:xfrm>
            <a:off x="6217920" y="1554480"/>
            <a:ext cx="521208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000"/>
              </a:spcAft>
              <a:defRPr sz="1300" b="1">
                <a:solidFill>
                  <a:srgbClr val="F43F5E"/>
                </a:solidFill>
                <a:latin typeface="Arial"/>
              </a:defRPr>
            </a:pPr>
            <a:r>
              <a:t>关键药物不良反应预警与急症处理</a:t>
            </a:r>
          </a:p>
          <a:p>
            <a:pPr>
              <a:spcAft>
                <a:spcPts val="100"/>
              </a:spcAft>
              <a:defRPr sz="1050" b="1">
                <a:solidFill>
                  <a:srgbClr val="F43F5E"/>
                </a:solidFill>
                <a:latin typeface="Arial"/>
              </a:defRPr>
            </a:pPr>
            <a:r>
              <a:t>▲ 免疫性肺炎 (CIP) 应急</a:t>
            </a:r>
          </a:p>
          <a:p>
            <a:pPr>
              <a:spcAft>
                <a:spcPts val="500"/>
              </a:spcAft>
              <a:defRPr sz="900">
                <a:solidFill>
                  <a:srgbClr val="64748B"/>
                </a:solidFill>
                <a:latin typeface="Arial"/>
              </a:defRPr>
            </a:pPr>
            <a:r>
              <a:t>患者出现新发咳嗽、活动后呼吸困难，立即行薄层 CT。≥ 2 级立即停用免疫，足量糖皮质激素（泼尼松 1~2 mg/kg/d）冲击，48小时无好转加用英夫利西单抗。</a:t>
            </a:r>
          </a:p>
          <a:p>
            <a:pPr>
              <a:spcAft>
                <a:spcPts val="100"/>
              </a:spcAft>
              <a:defRPr sz="1050" b="1">
                <a:solidFill>
                  <a:srgbClr val="F43F5E"/>
                </a:solidFill>
                <a:latin typeface="Arial"/>
              </a:defRPr>
            </a:pPr>
            <a:r>
              <a:t>▲ ADC 间质性肺病 (ILD)</a:t>
            </a:r>
          </a:p>
          <a:p>
            <a:pPr>
              <a:spcAft>
                <a:spcPts val="500"/>
              </a:spcAft>
              <a:defRPr sz="900">
                <a:solidFill>
                  <a:srgbClr val="64748B"/>
                </a:solidFill>
                <a:latin typeface="Arial"/>
              </a:defRPr>
            </a:pPr>
            <a:r>
              <a:t>T-DXd 及 Dato-DXd 使用中每 6~9 周常规行胸部 CT 筛查。一旦发现 1 级无症状 ILD 立即停药观察；≥ 2 级立即启动大剂量激素治疗并永久停药。</a:t>
            </a:r>
          </a:p>
          <a:p>
            <a:pPr>
              <a:spcAft>
                <a:spcPts val="100"/>
              </a:spcAft>
              <a:defRPr sz="1050" b="1">
                <a:solidFill>
                  <a:srgbClr val="F43F5E"/>
                </a:solidFill>
                <a:latin typeface="Arial"/>
              </a:defRPr>
            </a:pPr>
            <a:r>
              <a:t>▲ 免疫性心肌炎监测</a:t>
            </a:r>
          </a:p>
          <a:p>
            <a:pPr>
              <a:spcAft>
                <a:spcPts val="500"/>
              </a:spcAft>
              <a:defRPr sz="900">
                <a:solidFill>
                  <a:srgbClr val="64748B"/>
                </a:solidFill>
                <a:latin typeface="Arial"/>
              </a:defRPr>
            </a:pPr>
            <a:r>
              <a:t>每周期常规基线复查肌钙蛋白 (cTnT/I)、心肌酶谱与心电图。若肌钙蛋白剧烈升高伴乏力胸闷，立即大剂量甲强龙冲击（500~1000 mg/d）。</a:t>
            </a:r>
          </a:p>
          <a:p>
            <a:pPr>
              <a:spcAft>
                <a:spcPts val="100"/>
              </a:spcAft>
              <a:defRPr sz="1050" b="1">
                <a:solidFill>
                  <a:srgbClr val="F43F5E"/>
                </a:solidFill>
                <a:latin typeface="Arial"/>
              </a:defRPr>
            </a:pPr>
            <a:r>
              <a:t>▲ 埃万妥单抗输注反应</a:t>
            </a:r>
          </a:p>
          <a:p>
            <a:pPr>
              <a:spcAft>
                <a:spcPts val="500"/>
              </a:spcAft>
              <a:defRPr sz="900">
                <a:solidFill>
                  <a:srgbClr val="64748B"/>
                </a:solidFill>
                <a:latin typeface="Arial"/>
              </a:defRPr>
            </a:pPr>
            <a:r>
              <a:t>首剂静脉给药必须严格预处理（地塞米松+抗组胺+对乙酰氨基酚）；强烈推荐转换采用皮下注射剂型以大幅减少反应。</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0EA5E9"/>
                </a:solidFill>
                <a:latin typeface="Arial"/>
              </a:defRPr>
            </a:pPr>
            <a:r>
              <a:t>循证源与法规声明</a:t>
            </a:r>
          </a:p>
          <a:p>
            <a:pPr>
              <a:defRPr sz="2200" b="1">
                <a:solidFill>
                  <a:srgbClr val="1E293B"/>
                </a:solidFill>
                <a:latin typeface="Arial"/>
              </a:defRPr>
            </a:pPr>
            <a:r>
              <a:t>核心循证参考文献索引与 ClinicalTrials.gov 注册数据库</a:t>
            </a:r>
          </a:p>
          <a:p>
            <a:pPr>
              <a:spcBef>
                <a:spcPts val="200"/>
              </a:spcBef>
              <a:defRPr sz="1100">
                <a:solidFill>
                  <a:srgbClr val="64748B"/>
                </a:solidFill>
                <a:latin typeface="Arial"/>
              </a:defRPr>
            </a:pPr>
            <a:r>
              <a:t>本指南严格遵循国际权威循证医学标准，依托 PubMed/MEDLINE 与 ClinicalTrials.gov 编制</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00">
                <a:solidFill>
                  <a:srgbClr val="94A3B8"/>
                </a:solidFill>
                <a:latin typeface="Arial"/>
              </a:defRPr>
            </a:pPr>
            <a:r>
              <a:t>2026年非小细胞肺癌（NSCLC）临床诊疗与前沿指南 | 循证源：PubMed / ClinicalTrials.gov                                                                Slide 22 / 22</a:t>
            </a:r>
          </a:p>
        </p:txBody>
      </p:sp>
      <p:sp>
        <p:nvSpPr>
          <p:cNvPr id="5" name="Rounded Rectangle 4"/>
          <p:cNvSpPr/>
          <p:nvPr/>
        </p:nvSpPr>
        <p:spPr>
          <a:xfrm>
            <a:off x="731520" y="1554480"/>
            <a:ext cx="521208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800"/>
              </a:spcAft>
              <a:defRPr sz="1200" b="1">
                <a:solidFill>
                  <a:srgbClr val="0EA5E9"/>
                </a:solidFill>
                <a:latin typeface="Arial"/>
              </a:defRPr>
            </a:pPr>
            <a:r>
              <a:t>关键 PubMed 检索顶刊文献 (点击可访问)</a:t>
            </a:r>
          </a:p>
          <a:p>
            <a:pPr>
              <a:spcAft>
                <a:spcPts val="200"/>
              </a:spcAft>
              <a:defRPr sz="850">
                <a:solidFill>
                  <a:srgbClr val="1E293B"/>
                </a:solidFill>
                <a:latin typeface="Arial"/>
              </a:defRPr>
            </a:pPr>
            <a:r>
              <a:t>• NCCN Guidelines v4.2024 / v4.2026 → PMID: 38754467 | PMID: 41956107</a:t>
            </a:r>
          </a:p>
          <a:p>
            <a:pPr>
              <a:spcAft>
                <a:spcPts val="200"/>
              </a:spcAft>
              <a:defRPr sz="850">
                <a:solidFill>
                  <a:srgbClr val="1E293B"/>
                </a:solidFill>
                <a:latin typeface="Arial"/>
              </a:defRPr>
            </a:pPr>
            <a:r>
              <a:t>• HARMONi-2 (Ivonescimab vs Pembro) → Lancet 2025; PMID: 40057343</a:t>
            </a:r>
          </a:p>
          <a:p>
            <a:pPr>
              <a:spcAft>
                <a:spcPts val="200"/>
              </a:spcAft>
              <a:defRPr sz="850">
                <a:solidFill>
                  <a:srgbClr val="1E293B"/>
                </a:solidFill>
                <a:latin typeface="Arial"/>
              </a:defRPr>
            </a:pPr>
            <a:r>
              <a:t>• FLAURA2 (Osimertinib + Chemo) → NEJM 2023/2026; PMID: 41104938</a:t>
            </a:r>
          </a:p>
          <a:p>
            <a:pPr>
              <a:spcAft>
                <a:spcPts val="200"/>
              </a:spcAft>
              <a:defRPr sz="850">
                <a:solidFill>
                  <a:srgbClr val="1E293B"/>
                </a:solidFill>
                <a:latin typeface="Arial"/>
              </a:defRPr>
            </a:pPr>
            <a:r>
              <a:t>• MARIPOSA (Amivantamab + Lazertinib) → NEJM 2024/2025; PMID: 38924756 | 40923797</a:t>
            </a:r>
          </a:p>
          <a:p>
            <a:pPr>
              <a:spcAft>
                <a:spcPts val="200"/>
              </a:spcAft>
              <a:defRPr sz="850">
                <a:solidFill>
                  <a:srgbClr val="1E293B"/>
                </a:solidFill>
                <a:latin typeface="Arial"/>
              </a:defRPr>
            </a:pPr>
            <a:r>
              <a:t>• LAURA (Osimertinib in Stage III CRT) → NEJM 2024; PMID: 38828946</a:t>
            </a:r>
          </a:p>
          <a:p>
            <a:pPr>
              <a:spcAft>
                <a:spcPts val="200"/>
              </a:spcAft>
              <a:defRPr sz="850">
                <a:solidFill>
                  <a:srgbClr val="1E293B"/>
                </a:solidFill>
                <a:latin typeface="Arial"/>
              </a:defRPr>
            </a:pPr>
            <a:r>
              <a:t>• CheckMate-816 (Neoadjuvant Nivo 5-yr) → NEJM 2022/2025; PMID: 40454642</a:t>
            </a:r>
          </a:p>
          <a:p>
            <a:pPr>
              <a:spcAft>
                <a:spcPts val="200"/>
              </a:spcAft>
              <a:defRPr sz="850">
                <a:solidFill>
                  <a:srgbClr val="1E293B"/>
                </a:solidFill>
                <a:latin typeface="Arial"/>
              </a:defRPr>
            </a:pPr>
            <a:r>
              <a:t>• KEYNOTE-671 (Perioperative Pembro) → NEJM 2023; PMID: 37272513</a:t>
            </a:r>
          </a:p>
          <a:p>
            <a:pPr>
              <a:spcAft>
                <a:spcPts val="200"/>
              </a:spcAft>
              <a:defRPr sz="850">
                <a:solidFill>
                  <a:srgbClr val="1E293B"/>
                </a:solidFill>
                <a:latin typeface="Arial"/>
              </a:defRPr>
            </a:pPr>
            <a:r>
              <a:t>• ALINA (Adjuvant Alectinib in ALK+) → NEJM 2024; PMID: 38598794</a:t>
            </a:r>
          </a:p>
          <a:p>
            <a:pPr>
              <a:spcAft>
                <a:spcPts val="200"/>
              </a:spcAft>
              <a:defRPr sz="850">
                <a:solidFill>
                  <a:srgbClr val="1E293B"/>
                </a:solidFill>
                <a:latin typeface="Arial"/>
              </a:defRPr>
            </a:pPr>
            <a:r>
              <a:t>• ADAURA (Adjuvant Osimertinib) → NEJM 2020/2023; PMID: 32955177 | 36720083</a:t>
            </a:r>
          </a:p>
          <a:p>
            <a:pPr>
              <a:spcAft>
                <a:spcPts val="200"/>
              </a:spcAft>
              <a:defRPr sz="850">
                <a:solidFill>
                  <a:srgbClr val="1E293B"/>
                </a:solidFill>
                <a:latin typeface="Arial"/>
              </a:defRPr>
            </a:pPr>
            <a:r>
              <a:t>• PAPILLON (Amivantamab in 20ins) → NEJM 2023; PMID: 37870976</a:t>
            </a:r>
          </a:p>
          <a:p>
            <a:pPr>
              <a:spcAft>
                <a:spcPts val="200"/>
              </a:spcAft>
              <a:defRPr sz="850">
                <a:solidFill>
                  <a:srgbClr val="1E293B"/>
                </a:solidFill>
                <a:latin typeface="Arial"/>
              </a:defRPr>
            </a:pPr>
            <a:r>
              <a:t>• Zongertinib in HER2-mutant (Beamion-1) → NEJM 2025; PMID: 40293180</a:t>
            </a:r>
          </a:p>
        </p:txBody>
      </p:sp>
      <p:sp>
        <p:nvSpPr>
          <p:cNvPr id="6" name="Rounded Rectangle 5"/>
          <p:cNvSpPr/>
          <p:nvPr/>
        </p:nvSpPr>
        <p:spPr>
          <a:xfrm>
            <a:off x="6217920" y="1554480"/>
            <a:ext cx="521208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800"/>
              </a:spcAft>
              <a:defRPr sz="1200" b="1">
                <a:solidFill>
                  <a:srgbClr val="1E293B"/>
                </a:solidFill>
                <a:latin typeface="Arial"/>
              </a:defRPr>
            </a:pPr>
            <a:r>
              <a:t>ClinicalTrials.gov 关键试验与合规声明</a:t>
            </a:r>
          </a:p>
          <a:p>
            <a:pPr>
              <a:spcAft>
                <a:spcPts val="100"/>
              </a:spcAft>
              <a:defRPr sz="1000" b="1">
                <a:solidFill>
                  <a:srgbClr val="0EA5E9"/>
                </a:solidFill>
                <a:latin typeface="Arial"/>
              </a:defRPr>
            </a:pPr>
            <a:r>
              <a:t>■ 全球重点临床试验</a:t>
            </a:r>
          </a:p>
          <a:p>
            <a:pPr>
              <a:spcAft>
                <a:spcPts val="600"/>
              </a:spcAft>
              <a:defRPr sz="850">
                <a:solidFill>
                  <a:srgbClr val="64748B"/>
                </a:solidFill>
                <a:latin typeface="Arial"/>
              </a:defRPr>
            </a:pPr>
            <a:r>
              <a:t>NCT05899608 (HARMONi-3)</a:t>
            </a:r>
            <a:br/>
            <a:r>
              <a:t>NCT06767514 (HARMONi-7)</a:t>
            </a:r>
            <a:br/>
            <a:r>
              <a:t>NCT06350097 (TROPION-Lung14)</a:t>
            </a:r>
            <a:br/>
            <a:r>
              <a:t>NCT06417814 (TROPION-Lung15)</a:t>
            </a:r>
            <a:br/>
            <a:r>
              <a:t>NCT06170788 (MK-2870-007)</a:t>
            </a:r>
            <a:br/>
            <a:r>
              <a:t>NCT06312137 (MK-2870-019)</a:t>
            </a:r>
            <a:br/>
            <a:r>
              <a:t>NCT06875310 (KRYSTAL-4)</a:t>
            </a:r>
          </a:p>
          <a:p>
            <a:pPr>
              <a:spcAft>
                <a:spcPts val="100"/>
              </a:spcAft>
              <a:defRPr sz="1000" b="1">
                <a:solidFill>
                  <a:srgbClr val="0EA5E9"/>
                </a:solidFill>
                <a:latin typeface="Arial"/>
              </a:defRPr>
            </a:pPr>
            <a:r>
              <a:t>■ PubMed 检索与使用声明</a:t>
            </a:r>
          </a:p>
          <a:p>
            <a:pPr>
              <a:spcAft>
                <a:spcPts val="600"/>
              </a:spcAft>
              <a:defRPr sz="850">
                <a:solidFill>
                  <a:srgbClr val="64748B"/>
                </a:solidFill>
                <a:latin typeface="Arial"/>
              </a:defRPr>
            </a:pPr>
            <a:r>
              <a:t>依据 PubMed 数据库使用规范（https://pubmed.ncbi.nlm.nih.gov/disclaimer/ 及 https://www.ncbi.nlm.nih.gov/home/about/policies/），本指南所引用的文献及摘要用于医学专业交流与循证分析，具体论文知识产权属于各版权所有者。</a:t>
            </a:r>
          </a:p>
          <a:p>
            <a:pPr>
              <a:spcAft>
                <a:spcPts val="100"/>
              </a:spcAft>
              <a:defRPr sz="1000" b="1">
                <a:solidFill>
                  <a:srgbClr val="0EA5E9"/>
                </a:solidFill>
                <a:latin typeface="Arial"/>
              </a:defRPr>
            </a:pPr>
            <a:r>
              <a:t>■ ClinicalTrials.gov 声明</a:t>
            </a:r>
          </a:p>
          <a:p>
            <a:pPr>
              <a:spcAft>
                <a:spcPts val="600"/>
              </a:spcAft>
              <a:defRPr sz="850">
                <a:solidFill>
                  <a:srgbClr val="64748B"/>
                </a:solidFill>
                <a:latin typeface="Arial"/>
              </a:defRPr>
            </a:pPr>
            <a:r>
              <a:t>依据 ClinicalTrials.gov 平台条款（https://clinicaltrials.gov/），各临床试验招募状态与方案方案细节随时动态更新，临床实施请以最新实时注册数据为准。</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